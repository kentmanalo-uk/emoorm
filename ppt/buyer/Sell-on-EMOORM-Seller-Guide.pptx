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Thirteen steps from signing up to getting paid. Your application saves as a draft, so you can stop and come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0% plainly — it is the first question sellers ask. Payment goes straight to them: cash on delivery, or the buyer scans the seller’s QR Ph or GCash code and pays into the seller’s own account. E-MOORM never holds the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here costs money. A permit is optional and can be added after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 is local. The same admin handles support later, so it is a relationship rather than a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province is fixed because E-MOORM only serves Oriental Mindoro. Sellers only choose their municipality and barangay.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form saves a draft automatically. Payout details decide how buyers pay you — pick cash only if you want COD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Turnaround depends on the municipal admin. Applicants keep full buyer access in the meantime.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Shops with a logo, a banner and real opening hours get taken more seriously. The QR code is how prepaid buyers pay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Stock is decremented automatically when an order is placed and returned if the order is cancelled.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product page carries its own title, description and price for search engines, so listings can be found outside the app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Pickup orders go to Ready for pickup; delivery orders go to To ship and then Out for delivery. Stock is restored on cancellation.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automatic payment. The buyer pays into the seller’s own account by scanning the QR code, and the seller confirms it from the screenshot. Rejecting a proof is not cancelling — the order and its stock are held for the buyer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Buyers are prompted to review after an order is completed. Leaving orders open costs you 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delivery fee and the free-delivery threshold are set by the platform. Service areas are per 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Reviews can include photos. They appear on the product and aggregate onto the 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Refunds are recorded manually and are final. Returns are separate from cancellations.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stating twice: no commission is deducted anywhere, and E-MOORM never touches the money. The buyer scans the seller’s QR Ph or GCash code and pays into the seller’s own account; the seller confirms from the screenshot. The Finance page is a record of completed orders, not a wallet.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 and reports both route to the municipal admin, not a central helpdesk.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and unthreatening — the point is transparency, not warning.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hand-out slide. Thirteen steps, four of them before anything is listed.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local point: there is a named person in their own town.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low"/>
          <p:cNvSpPr/>
          <p:nvPr/>
        </p:nvSpPr>
        <p:spPr>
          <a:xfrm>
            <a:off x="7863840" y="-2377440"/>
            <a:ext cx="6766560" cy="6766560"/>
          </a:xfrm>
          <a:prstGeom prst="ellipse">
            <a:avLst/>
          </a:prstGeom>
          <a:solidFill>
            <a:srgbClr val="29A366">
              <a:alpha val="16000"/>
            </a:srgbClr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kicker"/>
          <p:cNvSpPr txBox="1"/>
          <p:nvPr/>
        </p:nvSpPr>
        <p:spPr>
          <a:xfrm>
            <a:off x="9144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E-MOORM</a:t>
            </a:r>
            <a:endParaRPr lang="en-US" sz="1300" dirty="0"/>
          </a:p>
        </p:txBody>
      </p:sp>
      <p:sp>
        <p:nvSpPr>
          <p:cNvPr id="4" name="!!title"/>
          <p:cNvSpPr txBox="1"/>
          <p:nvPr/>
        </p:nvSpPr>
        <p:spPr>
          <a:xfrm>
            <a:off x="914400" y="201168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on E-MOORM.</a:t>
            </a:r>
            <a:endParaRPr lang="en-US" sz="6600" dirty="0"/>
          </a:p>
        </p:txBody>
      </p:sp>
      <p:sp>
        <p:nvSpPr>
          <p:cNvPr id="5" name="t1"/>
          <p:cNvSpPr txBox="1"/>
          <p:nvPr/>
        </p:nvSpPr>
        <p:spPr>
          <a:xfrm>
            <a:off x="914400" y="342900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shop. Reach every town in Oriental Mindoro.</a:t>
            </a:r>
            <a:endParaRPr lang="en-US" sz="21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everything you earn.</a:t>
            </a:r>
            <a:endParaRPr lang="en-US" sz="2100" dirty="0"/>
          </a:p>
        </p:txBody>
      </p:sp>
      <p:sp>
        <p:nvSpPr>
          <p:cNvPr id="6" name="t2"/>
          <p:cNvSpPr txBox="1"/>
          <p:nvPr/>
        </p:nvSpPr>
        <p:spPr>
          <a:xfrm>
            <a:off x="914400" y="4800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steps  ·  about ten minutes</a:t>
            </a:r>
            <a:endParaRPr lang="en-US" sz="1400" dirty="0"/>
          </a:p>
        </p:txBody>
      </p:sp>
      <p:sp>
        <p:nvSpPr>
          <p:cNvPr id="7" name="t3"/>
          <p:cNvSpPr txBox="1"/>
          <p:nvPr/>
        </p:nvSpPr>
        <p:spPr>
          <a:xfrm>
            <a:off x="914400" y="5806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emoorm.shop</a:t>
            </a:r>
            <a:endParaRPr lang="en-US" sz="14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914400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SELL HERE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914400" y="914400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reasons.</a:t>
            </a:r>
            <a:endParaRPr lang="en-US" sz="4000" dirty="0"/>
          </a:p>
        </p:txBody>
      </p:sp>
      <p:sp>
        <p:nvSpPr>
          <p:cNvPr id="4" name="t4"/>
          <p:cNvSpPr txBox="1"/>
          <p:nvPr/>
        </p:nvSpPr>
        <p:spPr>
          <a:xfrm>
            <a:off x="914400" y="2240280"/>
            <a:ext cx="3088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0" dirty="0"/>
          </a:p>
        </p:txBody>
      </p:sp>
      <p:sp>
        <p:nvSpPr>
          <p:cNvPr id="5" name="t5"/>
          <p:cNvSpPr txBox="1"/>
          <p:nvPr/>
        </p:nvSpPr>
        <p:spPr>
          <a:xfrm>
            <a:off x="914400" y="3520440"/>
            <a:ext cx="30885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municipalities</a:t>
            </a:r>
            <a:endParaRPr lang="en-US" sz="1900" dirty="0"/>
          </a:p>
        </p:txBody>
      </p:sp>
      <p:sp>
        <p:nvSpPr>
          <p:cNvPr id="6" name="t6"/>
          <p:cNvSpPr txBox="1"/>
          <p:nvPr/>
        </p:nvSpPr>
        <p:spPr>
          <a:xfrm>
            <a:off x="914400" y="3950208"/>
            <a:ext cx="308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town in Oriental Mindoro — from Puerto Galera to Bulalacao — on one marketplace.</a:t>
            </a:r>
            <a:endParaRPr lang="en-US" sz="1500" dirty="0"/>
          </a:p>
        </p:txBody>
      </p:sp>
      <p:sp>
        <p:nvSpPr>
          <p:cNvPr id="7" name="t7"/>
          <p:cNvSpPr txBox="1"/>
          <p:nvPr/>
        </p:nvSpPr>
        <p:spPr>
          <a:xfrm>
            <a:off x="4551578" y="2240280"/>
            <a:ext cx="3088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000" dirty="0"/>
          </a:p>
        </p:txBody>
      </p:sp>
      <p:sp>
        <p:nvSpPr>
          <p:cNvPr id="8" name="t8"/>
          <p:cNvSpPr txBox="1"/>
          <p:nvPr/>
        </p:nvSpPr>
        <p:spPr>
          <a:xfrm>
            <a:off x="4551578" y="3520440"/>
            <a:ext cx="30885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</a:t>
            </a:r>
            <a:endParaRPr lang="en-US" sz="1900" dirty="0"/>
          </a:p>
        </p:txBody>
      </p:sp>
      <p:sp>
        <p:nvSpPr>
          <p:cNvPr id="9" name="t9"/>
          <p:cNvSpPr txBox="1"/>
          <p:nvPr/>
        </p:nvSpPr>
        <p:spPr>
          <a:xfrm>
            <a:off x="4551578" y="3950208"/>
            <a:ext cx="308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E-MOORM takes no cut and never holds your money. Buyers pay you directly.</a:t>
            </a:r>
            <a:endParaRPr lang="en-US" sz="1500" dirty="0"/>
          </a:p>
        </p:txBody>
      </p:sp>
      <p:sp>
        <p:nvSpPr>
          <p:cNvPr id="10" name="t10"/>
          <p:cNvSpPr txBox="1"/>
          <p:nvPr/>
        </p:nvSpPr>
        <p:spPr>
          <a:xfrm>
            <a:off x="8188757" y="2240280"/>
            <a:ext cx="3088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0" dirty="0"/>
          </a:p>
        </p:txBody>
      </p:sp>
      <p:sp>
        <p:nvSpPr>
          <p:cNvPr id="11" name="t11"/>
          <p:cNvSpPr txBox="1"/>
          <p:nvPr/>
        </p:nvSpPr>
        <p:spPr>
          <a:xfrm>
            <a:off x="8188757" y="3520440"/>
            <a:ext cx="30885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of your own</a:t>
            </a:r>
            <a:endParaRPr lang="en-US" sz="1900" dirty="0"/>
          </a:p>
        </p:txBody>
      </p:sp>
      <p:sp>
        <p:nvSpPr>
          <p:cNvPr id="12" name="t12"/>
          <p:cNvSpPr txBox="1"/>
          <p:nvPr/>
        </p:nvSpPr>
        <p:spPr>
          <a:xfrm>
            <a:off x="8188757" y="3950208"/>
            <a:ext cx="308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page, with your logo, banner and colours. Not a listing lost in a feed.</a:t>
            </a:r>
            <a:endParaRPr lang="en-US" sz="1500" dirty="0"/>
          </a:p>
        </p:txBody>
      </p:sp>
      <p:sp>
        <p:nvSpPr>
          <p:cNvPr id="13" name="s13"/>
          <p:cNvSpPr/>
          <p:nvPr/>
        </p:nvSpPr>
        <p:spPr>
          <a:xfrm>
            <a:off x="914400" y="5349240"/>
            <a:ext cx="10362895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4" name="t14"/>
          <p:cNvSpPr txBox="1"/>
          <p:nvPr/>
        </p:nvSpPr>
        <p:spPr>
          <a:xfrm>
            <a:off x="914400" y="5577840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E-MOORM is a place to be found. The sale itself stays between you and your buyer.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914400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914400" y="914400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three things.</a:t>
            </a:r>
            <a:endParaRPr lang="en-US" sz="4000" dirty="0"/>
          </a:p>
        </p:txBody>
      </p:sp>
      <p:sp>
        <p:nvSpPr>
          <p:cNvPr id="4" name="t15"/>
          <p:cNvSpPr txBox="1"/>
          <p:nvPr/>
        </p:nvSpPr>
        <p:spPr>
          <a:xfrm>
            <a:off x="914400" y="21214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16"/>
          <p:cNvSpPr txBox="1"/>
          <p:nvPr/>
        </p:nvSpPr>
        <p:spPr>
          <a:xfrm>
            <a:off x="1783080" y="2103120"/>
            <a:ext cx="9494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 government ID</a:t>
            </a:r>
            <a:endParaRPr lang="en-US" sz="1800" dirty="0"/>
          </a:p>
        </p:txBody>
      </p:sp>
      <p:sp>
        <p:nvSpPr>
          <p:cNvPr id="6" name="t17"/>
          <p:cNvSpPr txBox="1"/>
          <p:nvPr/>
        </p:nvSpPr>
        <p:spPr>
          <a:xfrm>
            <a:off x="1783080" y="2487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current, readable ID. It confirms you are a real person in Oriental Mindoro.</a:t>
            </a:r>
            <a:endParaRPr lang="en-US" sz="1450" dirty="0"/>
          </a:p>
        </p:txBody>
      </p:sp>
      <p:sp>
        <p:nvSpPr>
          <p:cNvPr id="7" name="s18"/>
          <p:cNvSpPr/>
          <p:nvPr/>
        </p:nvSpPr>
        <p:spPr>
          <a:xfrm>
            <a:off x="914400" y="3072384"/>
            <a:ext cx="10362895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8" name="t19"/>
          <p:cNvSpPr txBox="1"/>
          <p:nvPr/>
        </p:nvSpPr>
        <p:spPr>
          <a:xfrm>
            <a:off x="914400" y="33101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20"/>
          <p:cNvSpPr txBox="1"/>
          <p:nvPr/>
        </p:nvSpPr>
        <p:spPr>
          <a:xfrm>
            <a:off x="1783080" y="3291840"/>
            <a:ext cx="9494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shop details</a:t>
            </a:r>
            <a:endParaRPr lang="en-US" sz="1800" dirty="0"/>
          </a:p>
        </p:txBody>
      </p:sp>
      <p:sp>
        <p:nvSpPr>
          <p:cNvPr id="10" name="t21"/>
          <p:cNvSpPr txBox="1"/>
          <p:nvPr/>
        </p:nvSpPr>
        <p:spPr>
          <a:xfrm>
            <a:off x="1783080" y="3675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name, a short description, and where you trade from — municipality, barangay, street.</a:t>
            </a:r>
            <a:endParaRPr lang="en-US" sz="1450" dirty="0"/>
          </a:p>
        </p:txBody>
      </p:sp>
      <p:sp>
        <p:nvSpPr>
          <p:cNvPr id="11" name="s22"/>
          <p:cNvSpPr/>
          <p:nvPr/>
        </p:nvSpPr>
        <p:spPr>
          <a:xfrm>
            <a:off x="914400" y="4261104"/>
            <a:ext cx="10362895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2" name="t23"/>
          <p:cNvSpPr txBox="1"/>
          <p:nvPr/>
        </p:nvSpPr>
        <p:spPr>
          <a:xfrm>
            <a:off x="914400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24"/>
          <p:cNvSpPr txBox="1"/>
          <p:nvPr/>
        </p:nvSpPr>
        <p:spPr>
          <a:xfrm>
            <a:off x="1783080" y="4480560"/>
            <a:ext cx="9494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of your products</a:t>
            </a:r>
            <a:endParaRPr lang="en-US" sz="1800" dirty="0"/>
          </a:p>
        </p:txBody>
      </p:sp>
      <p:sp>
        <p:nvSpPr>
          <p:cNvPr id="14" name="t25"/>
          <p:cNvSpPr txBox="1"/>
          <p:nvPr/>
        </p:nvSpPr>
        <p:spPr>
          <a:xfrm>
            <a:off x="1783080" y="48646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and well lit. This is the single biggest thing that decides whether people buy.</a:t>
            </a:r>
            <a:endParaRPr lang="en-US" sz="1450" dirty="0"/>
          </a:p>
        </p:txBody>
      </p:sp>
      <p:sp>
        <p:nvSpPr>
          <p:cNvPr id="15" name="s26"/>
          <p:cNvSpPr/>
          <p:nvPr/>
        </p:nvSpPr>
        <p:spPr>
          <a:xfrm>
            <a:off x="914400" y="5669280"/>
            <a:ext cx="10362895" cy="658368"/>
          </a:xfrm>
          <a:prstGeom prst="roundRect">
            <a:avLst>
              <a:gd name="adj" fmla="val 2222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6" name="t27"/>
          <p:cNvSpPr txBox="1"/>
          <p:nvPr/>
        </p:nvSpPr>
        <p:spPr>
          <a:xfrm>
            <a:off x="1280160" y="5861304"/>
            <a:ext cx="9631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 a business permit number and BIR TIN, if you have them. Both can be added later.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914400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914400" y="914400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by someone in your town.</a:t>
            </a:r>
            <a:endParaRPr lang="en-US" sz="4000" dirty="0"/>
          </a:p>
        </p:txBody>
      </p:sp>
      <p:sp>
        <p:nvSpPr>
          <p:cNvPr id="4" name="s28"/>
          <p:cNvSpPr/>
          <p:nvPr/>
        </p:nvSpPr>
        <p:spPr>
          <a:xfrm>
            <a:off x="1371600" y="2798064"/>
            <a:ext cx="9448495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5" name="s29"/>
          <p:cNvSpPr/>
          <p:nvPr/>
        </p:nvSpPr>
        <p:spPr>
          <a:xfrm>
            <a:off x="914400" y="2340864"/>
            <a:ext cx="914400" cy="914400"/>
          </a:xfrm>
          <a:prstGeom prst="ellipse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6" name="t30"/>
          <p:cNvSpPr txBox="1"/>
          <p:nvPr/>
        </p:nvSpPr>
        <p:spPr>
          <a:xfrm>
            <a:off x="914400" y="234086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31"/>
          <p:cNvSpPr txBox="1"/>
          <p:nvPr/>
        </p:nvSpPr>
        <p:spPr>
          <a:xfrm>
            <a:off x="914400" y="3520440"/>
            <a:ext cx="30885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900" dirty="0"/>
          </a:p>
        </p:txBody>
      </p:sp>
      <p:sp>
        <p:nvSpPr>
          <p:cNvPr id="8" name="t32"/>
          <p:cNvSpPr txBox="1"/>
          <p:nvPr/>
        </p:nvSpPr>
        <p:spPr>
          <a:xfrm>
            <a:off x="914400" y="3931920"/>
            <a:ext cx="308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the application and upload your ID.</a:t>
            </a:r>
            <a:endParaRPr lang="en-US" sz="1500" dirty="0"/>
          </a:p>
        </p:txBody>
      </p:sp>
      <p:sp>
        <p:nvSpPr>
          <p:cNvPr id="9" name="s33"/>
          <p:cNvSpPr/>
          <p:nvPr/>
        </p:nvSpPr>
        <p:spPr>
          <a:xfrm>
            <a:off x="4551578" y="2340864"/>
            <a:ext cx="914400" cy="914400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10" name="t34"/>
          <p:cNvSpPr txBox="1"/>
          <p:nvPr/>
        </p:nvSpPr>
        <p:spPr>
          <a:xfrm>
            <a:off x="4551578" y="234086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35"/>
          <p:cNvSpPr txBox="1"/>
          <p:nvPr/>
        </p:nvSpPr>
        <p:spPr>
          <a:xfrm>
            <a:off x="4551578" y="3520440"/>
            <a:ext cx="30885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municipal admin</a:t>
            </a:r>
            <a:endParaRPr lang="en-US" sz="1900" dirty="0"/>
          </a:p>
        </p:txBody>
      </p:sp>
      <p:sp>
        <p:nvSpPr>
          <p:cNvPr id="12" name="t36"/>
          <p:cNvSpPr txBox="1"/>
          <p:nvPr/>
        </p:nvSpPr>
        <p:spPr>
          <a:xfrm>
            <a:off x="4551578" y="3931920"/>
            <a:ext cx="308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person in your own municipality reviews it.</a:t>
            </a:r>
            <a:endParaRPr lang="en-US" sz="1500" dirty="0"/>
          </a:p>
        </p:txBody>
      </p:sp>
      <p:sp>
        <p:nvSpPr>
          <p:cNvPr id="13" name="s37"/>
          <p:cNvSpPr/>
          <p:nvPr/>
        </p:nvSpPr>
        <p:spPr>
          <a:xfrm>
            <a:off x="8188757" y="2340864"/>
            <a:ext cx="914400" cy="914400"/>
          </a:xfrm>
          <a:prstGeom prst="ellipse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4" name="t38"/>
          <p:cNvSpPr txBox="1"/>
          <p:nvPr/>
        </p:nvSpPr>
        <p:spPr>
          <a:xfrm>
            <a:off x="8188757" y="234086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39"/>
          <p:cNvSpPr txBox="1"/>
          <p:nvPr/>
        </p:nvSpPr>
        <p:spPr>
          <a:xfrm>
            <a:off x="8188757" y="3520440"/>
            <a:ext cx="30885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shop is live</a:t>
            </a:r>
            <a:endParaRPr lang="en-US" sz="1900" dirty="0"/>
          </a:p>
        </p:txBody>
      </p:sp>
      <p:sp>
        <p:nvSpPr>
          <p:cNvPr id="16" name="t40"/>
          <p:cNvSpPr txBox="1"/>
          <p:nvPr/>
        </p:nvSpPr>
        <p:spPr>
          <a:xfrm>
            <a:off x="8188757" y="3931920"/>
            <a:ext cx="308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a notification and can start listing.</a:t>
            </a:r>
            <a:endParaRPr lang="en-US" sz="1500" dirty="0"/>
          </a:p>
        </p:txBody>
      </p:sp>
      <p:sp>
        <p:nvSpPr>
          <p:cNvPr id="17" name="s41"/>
          <p:cNvSpPr/>
          <p:nvPr/>
        </p:nvSpPr>
        <p:spPr>
          <a:xfrm>
            <a:off x="914400" y="5349240"/>
            <a:ext cx="10362895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8" name="t42"/>
          <p:cNvSpPr txBox="1"/>
          <p:nvPr/>
        </p:nvSpPr>
        <p:spPr>
          <a:xfrm>
            <a:off x="914400" y="5577840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call centre. If something is missing, they tell you what to fix.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 txBox="1"/>
          <p:nvPr/>
        </p:nvSpPr>
        <p:spPr>
          <a:xfrm>
            <a:off x="7498080" y="868680"/>
            <a:ext cx="4206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2C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3000" dirty="0"/>
          </a:p>
        </p:txBody>
      </p:sp>
      <p:sp>
        <p:nvSpPr>
          <p:cNvPr id="3" name="!!kicker"/>
          <p:cNvSpPr txBox="1"/>
          <p:nvPr/>
        </p:nvSpPr>
        <p:spPr>
          <a:xfrm>
            <a:off x="914400" y="24688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250" dirty="0"/>
          </a:p>
        </p:txBody>
      </p:sp>
      <p:sp>
        <p:nvSpPr>
          <p:cNvPr id="4" name="!!title"/>
          <p:cNvSpPr txBox="1"/>
          <p:nvPr/>
        </p:nvSpPr>
        <p:spPr>
          <a:xfrm>
            <a:off x="91440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set up.</a:t>
            </a:r>
            <a:endParaRPr lang="en-US" sz="5200" dirty="0"/>
          </a:p>
        </p:txBody>
      </p:sp>
      <p:sp>
        <p:nvSpPr>
          <p:cNvPr id="5" name="t43"/>
          <p:cNvSpPr txBox="1"/>
          <p:nvPr/>
        </p:nvSpPr>
        <p:spPr>
          <a:xfrm>
            <a:off x="914400" y="3840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 – 4</a:t>
            </a:r>
            <a:endParaRPr lang="en-US" sz="18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OF 13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an ordinary account.</a:t>
            </a:r>
            <a:endParaRPr lang="en-US" sz="4000" dirty="0"/>
          </a:p>
        </p:txBody>
      </p:sp>
      <p:sp>
        <p:nvSpPr>
          <p:cNvPr id="6" name="t44"/>
          <p:cNvSpPr txBox="1"/>
          <p:nvPr/>
        </p:nvSpPr>
        <p:spPr>
          <a:xfrm>
            <a:off x="1591056" y="17190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seller begins as a buyer. Same login, same profile.</a:t>
            </a:r>
            <a:endParaRPr lang="en-US" sz="1700" dirty="0"/>
          </a:p>
        </p:txBody>
      </p:sp>
      <p:sp>
        <p:nvSpPr>
          <p:cNvPr id="7" name="t45"/>
          <p:cNvSpPr txBox="1"/>
          <p:nvPr/>
        </p:nvSpPr>
        <p:spPr>
          <a:xfrm>
            <a:off x="914400" y="26974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and password</a:t>
            </a:r>
            <a:endParaRPr lang="en-US" sz="1800" dirty="0"/>
          </a:p>
        </p:txBody>
      </p:sp>
      <p:sp>
        <p:nvSpPr>
          <p:cNvPr id="8" name="t46"/>
          <p:cNvSpPr txBox="1"/>
          <p:nvPr/>
        </p:nvSpPr>
        <p:spPr>
          <a:xfrm>
            <a:off x="914400" y="30632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continue with Google.</a:t>
            </a:r>
            <a:endParaRPr lang="en-US" sz="1450" dirty="0"/>
          </a:p>
        </p:txBody>
      </p:sp>
      <p:sp>
        <p:nvSpPr>
          <p:cNvPr id="9" name="s47"/>
          <p:cNvSpPr/>
          <p:nvPr/>
        </p:nvSpPr>
        <p:spPr>
          <a:xfrm>
            <a:off x="914400" y="3520440"/>
            <a:ext cx="5303520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48"/>
          <p:cNvSpPr txBox="1"/>
          <p:nvPr/>
        </p:nvSpPr>
        <p:spPr>
          <a:xfrm>
            <a:off x="914400" y="365760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municipality</a:t>
            </a:r>
            <a:endParaRPr lang="en-US" sz="1800" dirty="0"/>
          </a:p>
        </p:txBody>
      </p:sp>
      <p:sp>
        <p:nvSpPr>
          <p:cNvPr id="11" name="t49"/>
          <p:cNvSpPr txBox="1"/>
          <p:nvPr/>
        </p:nvSpPr>
        <p:spPr>
          <a:xfrm>
            <a:off x="914400" y="402336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town you live or trade in.</a:t>
            </a:r>
            <a:endParaRPr lang="en-US" sz="1450" dirty="0"/>
          </a:p>
        </p:txBody>
      </p:sp>
      <p:sp>
        <p:nvSpPr>
          <p:cNvPr id="12" name="s50"/>
          <p:cNvSpPr/>
          <p:nvPr/>
        </p:nvSpPr>
        <p:spPr>
          <a:xfrm>
            <a:off x="914400" y="4480560"/>
            <a:ext cx="5303520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3" name="t51"/>
          <p:cNvSpPr txBox="1"/>
          <p:nvPr/>
        </p:nvSpPr>
        <p:spPr>
          <a:xfrm>
            <a:off x="914400" y="461772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Barangay and street</a:t>
            </a:r>
            <a:endParaRPr lang="en-US" sz="1800" dirty="0"/>
          </a:p>
        </p:txBody>
      </p:sp>
      <p:sp>
        <p:nvSpPr>
          <p:cNvPr id="14" name="t52"/>
          <p:cNvSpPr txBox="1"/>
          <p:nvPr/>
        </p:nvSpPr>
        <p:spPr>
          <a:xfrm>
            <a:off x="914400" y="49834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delivery and for matching your ID.</a:t>
            </a:r>
            <a:endParaRPr lang="en-US" sz="1450" dirty="0"/>
          </a:p>
        </p:txBody>
      </p:sp>
      <p:sp>
        <p:nvSpPr>
          <p:cNvPr id="15" name="s53"/>
          <p:cNvSpPr/>
          <p:nvPr/>
        </p:nvSpPr>
        <p:spPr>
          <a:xfrm>
            <a:off x="7040880" y="2651760"/>
            <a:ext cx="4233672" cy="2880360"/>
          </a:xfrm>
          <a:prstGeom prst="roundRect">
            <a:avLst>
              <a:gd name="adj" fmla="val 5079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6" name="t54"/>
          <p:cNvSpPr txBox="1"/>
          <p:nvPr/>
        </p:nvSpPr>
        <p:spPr>
          <a:xfrm>
            <a:off x="7406640" y="29718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PROVINCE</a:t>
            </a:r>
            <a:endParaRPr lang="en-US" sz="1050" dirty="0"/>
          </a:p>
        </p:txBody>
      </p:sp>
      <p:sp>
        <p:nvSpPr>
          <p:cNvPr id="17" name="s55"/>
          <p:cNvSpPr/>
          <p:nvPr/>
        </p:nvSpPr>
        <p:spPr>
          <a:xfrm>
            <a:off x="7406640" y="3246120"/>
            <a:ext cx="350215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56"/>
          <p:cNvSpPr txBox="1"/>
          <p:nvPr/>
        </p:nvSpPr>
        <p:spPr>
          <a:xfrm>
            <a:off x="7589520" y="33649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Oriental Mindoro</a:t>
            </a:r>
            <a:endParaRPr lang="en-US" sz="1350" dirty="0"/>
          </a:p>
        </p:txBody>
      </p:sp>
      <p:sp>
        <p:nvSpPr>
          <p:cNvPr id="19" name="t57"/>
          <p:cNvSpPr txBox="1"/>
          <p:nvPr/>
        </p:nvSpPr>
        <p:spPr>
          <a:xfrm>
            <a:off x="7406640" y="3767328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Fixed. We serve this province only.</a:t>
            </a:r>
            <a:endParaRPr lang="en-US" sz="1100" dirty="0"/>
          </a:p>
        </p:txBody>
      </p:sp>
      <p:sp>
        <p:nvSpPr>
          <p:cNvPr id="20" name="t58"/>
          <p:cNvSpPr txBox="1"/>
          <p:nvPr/>
        </p:nvSpPr>
        <p:spPr>
          <a:xfrm>
            <a:off x="7406640" y="42062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/ MUNICIPALITY</a:t>
            </a:r>
            <a:endParaRPr lang="en-US" sz="1050" dirty="0"/>
          </a:p>
        </p:txBody>
      </p:sp>
      <p:sp>
        <p:nvSpPr>
          <p:cNvPr id="21" name="s59"/>
          <p:cNvSpPr/>
          <p:nvPr/>
        </p:nvSpPr>
        <p:spPr>
          <a:xfrm>
            <a:off x="7406640" y="4480560"/>
            <a:ext cx="350215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29A366"/>
            </a:solidFill>
            <a:prstDash val="solid"/>
          </a:ln>
        </p:spPr>
      </p:sp>
      <p:sp>
        <p:nvSpPr>
          <p:cNvPr id="22" name="t60"/>
          <p:cNvSpPr txBox="1"/>
          <p:nvPr/>
        </p:nvSpPr>
        <p:spPr>
          <a:xfrm>
            <a:off x="7589520" y="45994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Baco</a:t>
            </a:r>
            <a:endParaRPr lang="en-US" sz="1350" dirty="0"/>
          </a:p>
        </p:txBody>
      </p:sp>
      <p:sp>
        <p:nvSpPr>
          <p:cNvPr id="23" name="t61"/>
          <p:cNvSpPr txBox="1"/>
          <p:nvPr/>
        </p:nvSpPr>
        <p:spPr>
          <a:xfrm>
            <a:off x="10515600" y="45902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100" dirty="0"/>
          </a:p>
        </p:txBody>
      </p:sp>
      <p:sp>
        <p:nvSpPr>
          <p:cNvPr id="24" name="t62"/>
          <p:cNvSpPr txBox="1"/>
          <p:nvPr/>
        </p:nvSpPr>
        <p:spPr>
          <a:xfrm>
            <a:off x="7406640" y="5001768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of the 15 towns.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OF 13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about your shop.</a:t>
            </a:r>
            <a:endParaRPr lang="en-US" sz="4000" dirty="0"/>
          </a:p>
        </p:txBody>
      </p:sp>
      <p:sp>
        <p:nvSpPr>
          <p:cNvPr id="6" name="t63"/>
          <p:cNvSpPr txBox="1"/>
          <p:nvPr/>
        </p:nvSpPr>
        <p:spPr>
          <a:xfrm>
            <a:off x="1591056" y="17190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"Sell on E-MOORM" and fill in the application. It saves as you go.</a:t>
            </a:r>
            <a:endParaRPr lang="en-US" sz="1700" dirty="0"/>
          </a:p>
        </p:txBody>
      </p:sp>
      <p:sp>
        <p:nvSpPr>
          <p:cNvPr id="7" name="t64"/>
          <p:cNvSpPr txBox="1"/>
          <p:nvPr/>
        </p:nvSpPr>
        <p:spPr>
          <a:xfrm>
            <a:off x="914400" y="2743200"/>
            <a:ext cx="238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SHOP</a:t>
            </a:r>
            <a:endParaRPr lang="en-US" sz="1150" dirty="0"/>
          </a:p>
        </p:txBody>
      </p:sp>
      <p:sp>
        <p:nvSpPr>
          <p:cNvPr id="8" name="s65"/>
          <p:cNvSpPr/>
          <p:nvPr/>
        </p:nvSpPr>
        <p:spPr>
          <a:xfrm>
            <a:off x="914400" y="3072384"/>
            <a:ext cx="2384984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9" name="t66"/>
          <p:cNvSpPr txBox="1"/>
          <p:nvPr/>
        </p:nvSpPr>
        <p:spPr>
          <a:xfrm>
            <a:off x="914400" y="3246120"/>
            <a:ext cx="238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and tagline</a:t>
            </a:r>
            <a:endParaRPr lang="en-US" sz="1450" dirty="0"/>
          </a:p>
        </p:txBody>
      </p:sp>
      <p:sp>
        <p:nvSpPr>
          <p:cNvPr id="10" name="t67"/>
          <p:cNvSpPr txBox="1"/>
          <p:nvPr/>
        </p:nvSpPr>
        <p:spPr>
          <a:xfrm>
            <a:off x="914400" y="3703320"/>
            <a:ext cx="238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description</a:t>
            </a:r>
            <a:endParaRPr lang="en-US" sz="1450" dirty="0"/>
          </a:p>
        </p:txBody>
      </p:sp>
      <p:sp>
        <p:nvSpPr>
          <p:cNvPr id="11" name="t68"/>
          <p:cNvSpPr txBox="1"/>
          <p:nvPr/>
        </p:nvSpPr>
        <p:spPr>
          <a:xfrm>
            <a:off x="914400" y="4160520"/>
            <a:ext cx="238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sell</a:t>
            </a:r>
            <a:endParaRPr lang="en-US" sz="1450" dirty="0"/>
          </a:p>
        </p:txBody>
      </p:sp>
      <p:sp>
        <p:nvSpPr>
          <p:cNvPr id="12" name="t69"/>
          <p:cNvSpPr txBox="1"/>
          <p:nvPr/>
        </p:nvSpPr>
        <p:spPr>
          <a:xfrm>
            <a:off x="914400" y="4617720"/>
            <a:ext cx="238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450" dirty="0"/>
          </a:p>
        </p:txBody>
      </p:sp>
      <p:sp>
        <p:nvSpPr>
          <p:cNvPr id="13" name="t70"/>
          <p:cNvSpPr txBox="1"/>
          <p:nvPr/>
        </p:nvSpPr>
        <p:spPr>
          <a:xfrm>
            <a:off x="3573704" y="2743200"/>
            <a:ext cx="238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TRADE</a:t>
            </a:r>
            <a:endParaRPr lang="en-US" sz="1150" dirty="0"/>
          </a:p>
        </p:txBody>
      </p:sp>
      <p:sp>
        <p:nvSpPr>
          <p:cNvPr id="14" name="s71"/>
          <p:cNvSpPr/>
          <p:nvPr/>
        </p:nvSpPr>
        <p:spPr>
          <a:xfrm>
            <a:off x="3573704" y="3072384"/>
            <a:ext cx="2384984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5" name="t72"/>
          <p:cNvSpPr txBox="1"/>
          <p:nvPr/>
        </p:nvSpPr>
        <p:spPr>
          <a:xfrm>
            <a:off x="3573704" y="3246120"/>
            <a:ext cx="238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Municipality and barangay</a:t>
            </a:r>
            <a:endParaRPr lang="en-US" sz="1450" dirty="0"/>
          </a:p>
        </p:txBody>
      </p:sp>
      <p:sp>
        <p:nvSpPr>
          <p:cNvPr id="16" name="t73"/>
          <p:cNvSpPr txBox="1"/>
          <p:nvPr/>
        </p:nvSpPr>
        <p:spPr>
          <a:xfrm>
            <a:off x="3573704" y="3703320"/>
            <a:ext cx="238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 or landmark</a:t>
            </a:r>
            <a:endParaRPr lang="en-US" sz="1450" dirty="0"/>
          </a:p>
        </p:txBody>
      </p:sp>
      <p:sp>
        <p:nvSpPr>
          <p:cNvPr id="17" name="t74"/>
          <p:cNvSpPr txBox="1"/>
          <p:nvPr/>
        </p:nvSpPr>
        <p:spPr>
          <a:xfrm>
            <a:off x="3573704" y="4160520"/>
            <a:ext cx="238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Delivery, pickup, or both</a:t>
            </a:r>
            <a:endParaRPr lang="en-US" sz="1450" dirty="0"/>
          </a:p>
        </p:txBody>
      </p:sp>
      <p:sp>
        <p:nvSpPr>
          <p:cNvPr id="18" name="t75"/>
          <p:cNvSpPr txBox="1"/>
          <p:nvPr/>
        </p:nvSpPr>
        <p:spPr>
          <a:xfrm>
            <a:off x="6233008" y="2743200"/>
            <a:ext cx="238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150" dirty="0"/>
          </a:p>
        </p:txBody>
      </p:sp>
      <p:sp>
        <p:nvSpPr>
          <p:cNvPr id="19" name="s76"/>
          <p:cNvSpPr/>
          <p:nvPr/>
        </p:nvSpPr>
        <p:spPr>
          <a:xfrm>
            <a:off x="6233008" y="3072384"/>
            <a:ext cx="2384984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20" name="t77"/>
          <p:cNvSpPr txBox="1"/>
          <p:nvPr/>
        </p:nvSpPr>
        <p:spPr>
          <a:xfrm>
            <a:off x="6233008" y="3246120"/>
            <a:ext cx="238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front and back</a:t>
            </a:r>
            <a:endParaRPr lang="en-US" sz="1450" dirty="0"/>
          </a:p>
        </p:txBody>
      </p:sp>
      <p:sp>
        <p:nvSpPr>
          <p:cNvPr id="21" name="t78"/>
          <p:cNvSpPr txBox="1"/>
          <p:nvPr/>
        </p:nvSpPr>
        <p:spPr>
          <a:xfrm>
            <a:off x="6233008" y="3703320"/>
            <a:ext cx="238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permit (optional)</a:t>
            </a:r>
            <a:endParaRPr lang="en-US" sz="1450" dirty="0"/>
          </a:p>
        </p:txBody>
      </p:sp>
      <p:sp>
        <p:nvSpPr>
          <p:cNvPr id="22" name="t79"/>
          <p:cNvSpPr txBox="1"/>
          <p:nvPr/>
        </p:nvSpPr>
        <p:spPr>
          <a:xfrm>
            <a:off x="6233008" y="4160520"/>
            <a:ext cx="238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TIN (optional)</a:t>
            </a:r>
            <a:endParaRPr lang="en-US" sz="1450" dirty="0"/>
          </a:p>
        </p:txBody>
      </p:sp>
      <p:sp>
        <p:nvSpPr>
          <p:cNvPr id="23" name="t80"/>
          <p:cNvSpPr txBox="1"/>
          <p:nvPr/>
        </p:nvSpPr>
        <p:spPr>
          <a:xfrm>
            <a:off x="8892311" y="2743200"/>
            <a:ext cx="238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PAID</a:t>
            </a:r>
            <a:endParaRPr lang="en-US" sz="1150" dirty="0"/>
          </a:p>
        </p:txBody>
      </p:sp>
      <p:sp>
        <p:nvSpPr>
          <p:cNvPr id="24" name="s81"/>
          <p:cNvSpPr/>
          <p:nvPr/>
        </p:nvSpPr>
        <p:spPr>
          <a:xfrm>
            <a:off x="8892311" y="3072384"/>
            <a:ext cx="2384984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25" name="t82"/>
          <p:cNvSpPr txBox="1"/>
          <p:nvPr/>
        </p:nvSpPr>
        <p:spPr>
          <a:xfrm>
            <a:off x="8892311" y="3246120"/>
            <a:ext cx="238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GCash, Maya, bank, cash</a:t>
            </a:r>
            <a:endParaRPr lang="en-US" sz="1450" dirty="0"/>
          </a:p>
        </p:txBody>
      </p:sp>
      <p:sp>
        <p:nvSpPr>
          <p:cNvPr id="26" name="t83"/>
          <p:cNvSpPr txBox="1"/>
          <p:nvPr/>
        </p:nvSpPr>
        <p:spPr>
          <a:xfrm>
            <a:off x="8892311" y="3703320"/>
            <a:ext cx="238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name and number</a:t>
            </a:r>
            <a:endParaRPr lang="en-US" sz="1450" dirty="0"/>
          </a:p>
        </p:txBody>
      </p:sp>
      <p:sp>
        <p:nvSpPr>
          <p:cNvPr id="27" name="s84"/>
          <p:cNvSpPr/>
          <p:nvPr/>
        </p:nvSpPr>
        <p:spPr>
          <a:xfrm>
            <a:off x="914400" y="5486400"/>
            <a:ext cx="10362895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28" name="t85"/>
          <p:cNvSpPr txBox="1"/>
          <p:nvPr/>
        </p:nvSpPr>
        <p:spPr>
          <a:xfrm>
            <a:off x="914400" y="5687568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ID is stored encrypted and is only seen by the admin reviewing your application.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00"/>
                            </p:stCondLst>
                            <p:childTnLst>
                              <p:par>
                                <p:cTn id="1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OF 13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wait. Briefly.</a:t>
            </a:r>
            <a:endParaRPr lang="en-US" sz="4000" dirty="0"/>
          </a:p>
        </p:txBody>
      </p:sp>
      <p:sp>
        <p:nvSpPr>
          <p:cNvPr id="6" name="t86"/>
          <p:cNvSpPr txBox="1"/>
          <p:nvPr/>
        </p:nvSpPr>
        <p:spPr>
          <a:xfrm>
            <a:off x="914400" y="21488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ADMIN CHECKS</a:t>
            </a:r>
            <a:endParaRPr lang="en-US" sz="1150" dirty="0"/>
          </a:p>
        </p:txBody>
      </p:sp>
      <p:sp>
        <p:nvSpPr>
          <p:cNvPr id="7" name="t87"/>
          <p:cNvSpPr txBox="1"/>
          <p:nvPr/>
        </p:nvSpPr>
        <p:spPr>
          <a:xfrm>
            <a:off x="914400" y="26060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ID is readable and matches the name on your account</a:t>
            </a:r>
            <a:endParaRPr lang="en-US" sz="1550" dirty="0"/>
          </a:p>
        </p:txBody>
      </p:sp>
      <p:sp>
        <p:nvSpPr>
          <p:cNvPr id="8" name="s88"/>
          <p:cNvSpPr/>
          <p:nvPr/>
        </p:nvSpPr>
        <p:spPr>
          <a:xfrm>
            <a:off x="914400" y="3246120"/>
            <a:ext cx="5394960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9" name="t89"/>
          <p:cNvSpPr txBox="1"/>
          <p:nvPr/>
        </p:nvSpPr>
        <p:spPr>
          <a:xfrm>
            <a:off x="914400" y="339242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shop address is inside the municipality you chose</a:t>
            </a:r>
            <a:endParaRPr lang="en-US" sz="1550" dirty="0"/>
          </a:p>
        </p:txBody>
      </p:sp>
      <p:sp>
        <p:nvSpPr>
          <p:cNvPr id="10" name="s90"/>
          <p:cNvSpPr/>
          <p:nvPr/>
        </p:nvSpPr>
        <p:spPr>
          <a:xfrm>
            <a:off x="914400" y="4032504"/>
            <a:ext cx="5394960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1" name="t91"/>
          <p:cNvSpPr txBox="1"/>
          <p:nvPr/>
        </p:nvSpPr>
        <p:spPr>
          <a:xfrm>
            <a:off x="914400" y="417880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sell is allowed on the platform</a:t>
            </a:r>
            <a:endParaRPr lang="en-US" sz="1550" dirty="0"/>
          </a:p>
        </p:txBody>
      </p:sp>
      <p:sp>
        <p:nvSpPr>
          <p:cNvPr id="12" name="s92"/>
          <p:cNvSpPr/>
          <p:nvPr/>
        </p:nvSpPr>
        <p:spPr>
          <a:xfrm>
            <a:off x="7040880" y="2148840"/>
            <a:ext cx="4233672" cy="1371600"/>
          </a:xfrm>
          <a:prstGeom prst="roundRect">
            <a:avLst>
              <a:gd name="adj" fmla="val 1066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3" name="s93"/>
          <p:cNvSpPr/>
          <p:nvPr/>
        </p:nvSpPr>
        <p:spPr>
          <a:xfrm>
            <a:off x="7388352" y="2514600"/>
            <a:ext cx="146304" cy="146304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14" name="t94"/>
          <p:cNvSpPr txBox="1"/>
          <p:nvPr/>
        </p:nvSpPr>
        <p:spPr>
          <a:xfrm>
            <a:off x="7662672" y="24048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700" dirty="0"/>
          </a:p>
        </p:txBody>
      </p:sp>
      <p:sp>
        <p:nvSpPr>
          <p:cNvPr id="15" name="t95"/>
          <p:cNvSpPr txBox="1"/>
          <p:nvPr/>
        </p:nvSpPr>
        <p:spPr>
          <a:xfrm>
            <a:off x="7388352" y="280720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a notification, the Seller Dashboard appears in your menu, and you can start listing.</a:t>
            </a:r>
            <a:endParaRPr lang="en-US" sz="1350" dirty="0"/>
          </a:p>
        </p:txBody>
      </p:sp>
      <p:sp>
        <p:nvSpPr>
          <p:cNvPr id="16" name="s96"/>
          <p:cNvSpPr/>
          <p:nvPr/>
        </p:nvSpPr>
        <p:spPr>
          <a:xfrm>
            <a:off x="7040880" y="3749040"/>
            <a:ext cx="4233672" cy="1371600"/>
          </a:xfrm>
          <a:prstGeom prst="roundRect">
            <a:avLst>
              <a:gd name="adj" fmla="val 1066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7" name="s97"/>
          <p:cNvSpPr/>
          <p:nvPr/>
        </p:nvSpPr>
        <p:spPr>
          <a:xfrm>
            <a:off x="7388352" y="4114800"/>
            <a:ext cx="146304" cy="146304"/>
          </a:xfrm>
          <a:prstGeom prst="ellipse">
            <a:avLst/>
          </a:prstGeom>
          <a:solidFill>
            <a:srgbClr val="86868B"/>
          </a:solidFill>
          <a:ln w="12700">
            <a:solidFill>
              <a:srgbClr val="86868B"/>
            </a:solidFill>
            <a:prstDash val="solid"/>
          </a:ln>
        </p:spPr>
      </p:sp>
      <p:sp>
        <p:nvSpPr>
          <p:cNvPr id="18" name="t98"/>
          <p:cNvSpPr txBox="1"/>
          <p:nvPr/>
        </p:nvSpPr>
        <p:spPr>
          <a:xfrm>
            <a:off x="7662672" y="40050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</a:t>
            </a:r>
            <a:endParaRPr lang="en-US" sz="1700" dirty="0"/>
          </a:p>
        </p:txBody>
      </p:sp>
      <p:sp>
        <p:nvSpPr>
          <p:cNvPr id="19" name="t99"/>
          <p:cNvSpPr txBox="1"/>
          <p:nvPr/>
        </p:nvSpPr>
        <p:spPr>
          <a:xfrm>
            <a:off x="7388352" y="440740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told what was missing. Fix it and send it again — nothing is lost.</a:t>
            </a:r>
            <a:endParaRPr lang="en-US" sz="1350" dirty="0"/>
          </a:p>
        </p:txBody>
      </p:sp>
      <p:sp>
        <p:nvSpPr>
          <p:cNvPr id="20" name="t100"/>
          <p:cNvSpPr txBox="1"/>
          <p:nvPr/>
        </p:nvSpPr>
        <p:spPr>
          <a:xfrm>
            <a:off x="914400" y="562356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full buyer access while you wait.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OF 13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yours.</a:t>
            </a:r>
            <a:endParaRPr lang="en-US" sz="4000" dirty="0"/>
          </a:p>
        </p:txBody>
      </p:sp>
      <p:sp>
        <p:nvSpPr>
          <p:cNvPr id="6" name="t101"/>
          <p:cNvSpPr txBox="1"/>
          <p:nvPr/>
        </p:nvSpPr>
        <p:spPr>
          <a:xfrm>
            <a:off x="1591056" y="17190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your storefront. It is worth twenty minutes.</a:t>
            </a:r>
            <a:endParaRPr lang="en-US" sz="1700" dirty="0"/>
          </a:p>
        </p:txBody>
      </p:sp>
      <p:sp>
        <p:nvSpPr>
          <p:cNvPr id="7" name="t102"/>
          <p:cNvSpPr txBox="1"/>
          <p:nvPr/>
        </p:nvSpPr>
        <p:spPr>
          <a:xfrm>
            <a:off x="914400" y="2743200"/>
            <a:ext cx="31494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</a:t>
            </a:r>
            <a:endParaRPr lang="en-US" sz="1900" dirty="0"/>
          </a:p>
        </p:txBody>
      </p:sp>
      <p:sp>
        <p:nvSpPr>
          <p:cNvPr id="8" name="t103"/>
          <p:cNvSpPr txBox="1"/>
          <p:nvPr/>
        </p:nvSpPr>
        <p:spPr>
          <a:xfrm>
            <a:off x="914400" y="3127248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Logo, banner, and two brand colours of your own.</a:t>
            </a:r>
            <a:endParaRPr lang="en-US" sz="1450" dirty="0"/>
          </a:p>
        </p:txBody>
      </p:sp>
      <p:sp>
        <p:nvSpPr>
          <p:cNvPr id="9" name="s104"/>
          <p:cNvSpPr/>
          <p:nvPr/>
        </p:nvSpPr>
        <p:spPr>
          <a:xfrm>
            <a:off x="914400" y="3931920"/>
            <a:ext cx="314949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105"/>
          <p:cNvSpPr txBox="1"/>
          <p:nvPr/>
        </p:nvSpPr>
        <p:spPr>
          <a:xfrm>
            <a:off x="4521098" y="2743200"/>
            <a:ext cx="31494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1900" dirty="0"/>
          </a:p>
        </p:txBody>
      </p:sp>
      <p:sp>
        <p:nvSpPr>
          <p:cNvPr id="11" name="t106"/>
          <p:cNvSpPr txBox="1"/>
          <p:nvPr/>
        </p:nvSpPr>
        <p:spPr>
          <a:xfrm>
            <a:off x="4521098" y="3127248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are open, so buyers know when to expect a reply.</a:t>
            </a:r>
            <a:endParaRPr lang="en-US" sz="1450" dirty="0"/>
          </a:p>
        </p:txBody>
      </p:sp>
      <p:sp>
        <p:nvSpPr>
          <p:cNvPr id="12" name="s107"/>
          <p:cNvSpPr/>
          <p:nvPr/>
        </p:nvSpPr>
        <p:spPr>
          <a:xfrm>
            <a:off x="4521098" y="3931920"/>
            <a:ext cx="314949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3" name="t108"/>
          <p:cNvSpPr txBox="1"/>
          <p:nvPr/>
        </p:nvSpPr>
        <p:spPr>
          <a:xfrm>
            <a:off x="8127797" y="2743200"/>
            <a:ext cx="31494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Fulfilment</a:t>
            </a:r>
            <a:endParaRPr lang="en-US" sz="1900" dirty="0"/>
          </a:p>
        </p:txBody>
      </p:sp>
      <p:sp>
        <p:nvSpPr>
          <p:cNvPr id="14" name="t109"/>
          <p:cNvSpPr txBox="1"/>
          <p:nvPr/>
        </p:nvSpPr>
        <p:spPr>
          <a:xfrm>
            <a:off x="8127797" y="3127248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Delivery, pickup, or both — and which towns you deliver to.</a:t>
            </a:r>
            <a:endParaRPr lang="en-US" sz="1450" dirty="0"/>
          </a:p>
        </p:txBody>
      </p:sp>
      <p:sp>
        <p:nvSpPr>
          <p:cNvPr id="15" name="s110"/>
          <p:cNvSpPr/>
          <p:nvPr/>
        </p:nvSpPr>
        <p:spPr>
          <a:xfrm>
            <a:off x="8127797" y="3931920"/>
            <a:ext cx="314949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6" name="t111"/>
          <p:cNvSpPr txBox="1"/>
          <p:nvPr/>
        </p:nvSpPr>
        <p:spPr>
          <a:xfrm>
            <a:off x="914400" y="4251960"/>
            <a:ext cx="31494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900" dirty="0"/>
          </a:p>
        </p:txBody>
      </p:sp>
      <p:sp>
        <p:nvSpPr>
          <p:cNvPr id="17" name="t112"/>
          <p:cNvSpPr txBox="1"/>
          <p:nvPr/>
        </p:nvSpPr>
        <p:spPr>
          <a:xfrm>
            <a:off x="914400" y="4636008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QR Ph or GCash QR code, and whether you take cash on delivery.</a:t>
            </a:r>
            <a:endParaRPr lang="en-US" sz="1450" dirty="0"/>
          </a:p>
        </p:txBody>
      </p:sp>
      <p:sp>
        <p:nvSpPr>
          <p:cNvPr id="18" name="t113"/>
          <p:cNvSpPr txBox="1"/>
          <p:nvPr/>
        </p:nvSpPr>
        <p:spPr>
          <a:xfrm>
            <a:off x="4521098" y="4251960"/>
            <a:ext cx="31494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</a:t>
            </a:r>
            <a:endParaRPr lang="en-US" sz="1900" dirty="0"/>
          </a:p>
        </p:txBody>
      </p:sp>
      <p:sp>
        <p:nvSpPr>
          <p:cNvPr id="19" name="t114"/>
          <p:cNvSpPr txBox="1"/>
          <p:nvPr/>
        </p:nvSpPr>
        <p:spPr>
          <a:xfrm>
            <a:off x="4521098" y="4636008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collect, and how to find you.</a:t>
            </a:r>
            <a:endParaRPr lang="en-US" sz="1450" dirty="0"/>
          </a:p>
        </p:txBody>
      </p:sp>
      <p:sp>
        <p:nvSpPr>
          <p:cNvPr id="20" name="t115"/>
          <p:cNvSpPr txBox="1"/>
          <p:nvPr/>
        </p:nvSpPr>
        <p:spPr>
          <a:xfrm>
            <a:off x="8127797" y="4251960"/>
            <a:ext cx="31494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900" dirty="0"/>
          </a:p>
        </p:txBody>
      </p:sp>
      <p:sp>
        <p:nvSpPr>
          <p:cNvPr id="21" name="t116"/>
          <p:cNvSpPr txBox="1"/>
          <p:nvPr/>
        </p:nvSpPr>
        <p:spPr>
          <a:xfrm>
            <a:off x="8127797" y="4636008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you are and why your products are worth buying.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 txBox="1"/>
          <p:nvPr/>
        </p:nvSpPr>
        <p:spPr>
          <a:xfrm>
            <a:off x="7498080" y="868680"/>
            <a:ext cx="4206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2C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3000" dirty="0"/>
          </a:p>
        </p:txBody>
      </p:sp>
      <p:sp>
        <p:nvSpPr>
          <p:cNvPr id="3" name="!!kicker"/>
          <p:cNvSpPr txBox="1"/>
          <p:nvPr/>
        </p:nvSpPr>
        <p:spPr>
          <a:xfrm>
            <a:off x="914400" y="24688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250" dirty="0"/>
          </a:p>
        </p:txBody>
      </p:sp>
      <p:sp>
        <p:nvSpPr>
          <p:cNvPr id="4" name="!!title"/>
          <p:cNvSpPr txBox="1"/>
          <p:nvPr/>
        </p:nvSpPr>
        <p:spPr>
          <a:xfrm>
            <a:off x="91440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products.</a:t>
            </a:r>
            <a:endParaRPr lang="en-US" sz="5200" dirty="0"/>
          </a:p>
        </p:txBody>
      </p:sp>
      <p:sp>
        <p:nvSpPr>
          <p:cNvPr id="5" name="t117"/>
          <p:cNvSpPr txBox="1"/>
          <p:nvPr/>
        </p:nvSpPr>
        <p:spPr>
          <a:xfrm>
            <a:off x="914400" y="3840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5 – 6</a:t>
            </a:r>
            <a:endParaRPr lang="en-US" sz="18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OF 13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good photo sells more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a long description.</a:t>
            </a:r>
            <a:endParaRPr lang="en-US" sz="3600" dirty="0"/>
          </a:p>
        </p:txBody>
      </p:sp>
      <p:sp>
        <p:nvSpPr>
          <p:cNvPr id="6" name="t118"/>
          <p:cNvSpPr txBox="1"/>
          <p:nvPr/>
        </p:nvSpPr>
        <p:spPr>
          <a:xfrm>
            <a:off x="914400" y="2788920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</a:t>
            </a:r>
            <a:endParaRPr lang="en-US" sz="1750" dirty="0"/>
          </a:p>
        </p:txBody>
      </p:sp>
      <p:sp>
        <p:nvSpPr>
          <p:cNvPr id="7" name="t119"/>
          <p:cNvSpPr txBox="1"/>
          <p:nvPr/>
        </p:nvSpPr>
        <p:spPr>
          <a:xfrm>
            <a:off x="914400" y="315468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one is what shows in search. Natural light, plain background.</a:t>
            </a:r>
            <a:endParaRPr lang="en-US" sz="1400" dirty="0"/>
          </a:p>
        </p:txBody>
      </p:sp>
      <p:sp>
        <p:nvSpPr>
          <p:cNvPr id="8" name="s120"/>
          <p:cNvSpPr/>
          <p:nvPr/>
        </p:nvSpPr>
        <p:spPr>
          <a:xfrm>
            <a:off x="914400" y="3959352"/>
            <a:ext cx="314949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9" name="t121"/>
          <p:cNvSpPr txBox="1"/>
          <p:nvPr/>
        </p:nvSpPr>
        <p:spPr>
          <a:xfrm>
            <a:off x="4521098" y="2788920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and description</a:t>
            </a:r>
            <a:endParaRPr lang="en-US" sz="1750" dirty="0"/>
          </a:p>
        </p:txBody>
      </p:sp>
      <p:sp>
        <p:nvSpPr>
          <p:cNvPr id="10" name="t122"/>
          <p:cNvSpPr txBox="1"/>
          <p:nvPr/>
        </p:nvSpPr>
        <p:spPr>
          <a:xfrm>
            <a:off x="4521098" y="315468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is, what it is made of, how big it is.</a:t>
            </a:r>
            <a:endParaRPr lang="en-US" sz="1400" dirty="0"/>
          </a:p>
        </p:txBody>
      </p:sp>
      <p:sp>
        <p:nvSpPr>
          <p:cNvPr id="11" name="s123"/>
          <p:cNvSpPr/>
          <p:nvPr/>
        </p:nvSpPr>
        <p:spPr>
          <a:xfrm>
            <a:off x="4521098" y="3959352"/>
            <a:ext cx="314949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2" name="t124"/>
          <p:cNvSpPr txBox="1"/>
          <p:nvPr/>
        </p:nvSpPr>
        <p:spPr>
          <a:xfrm>
            <a:off x="8127797" y="2788920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750" dirty="0"/>
          </a:p>
        </p:txBody>
      </p:sp>
      <p:sp>
        <p:nvSpPr>
          <p:cNvPr id="13" name="t125"/>
          <p:cNvSpPr txBox="1"/>
          <p:nvPr/>
        </p:nvSpPr>
        <p:spPr>
          <a:xfrm>
            <a:off x="8127797" y="315468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pesos. Change it whenever you like.</a:t>
            </a:r>
            <a:endParaRPr lang="en-US" sz="1400" dirty="0"/>
          </a:p>
        </p:txBody>
      </p:sp>
      <p:sp>
        <p:nvSpPr>
          <p:cNvPr id="14" name="s126"/>
          <p:cNvSpPr/>
          <p:nvPr/>
        </p:nvSpPr>
        <p:spPr>
          <a:xfrm>
            <a:off x="8127797" y="3959352"/>
            <a:ext cx="314949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5" name="t127"/>
          <p:cNvSpPr txBox="1"/>
          <p:nvPr/>
        </p:nvSpPr>
        <p:spPr>
          <a:xfrm>
            <a:off x="914400" y="4251960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750" dirty="0"/>
          </a:p>
        </p:txBody>
      </p:sp>
      <p:sp>
        <p:nvSpPr>
          <p:cNvPr id="16" name="t128"/>
          <p:cNvSpPr txBox="1"/>
          <p:nvPr/>
        </p:nvSpPr>
        <p:spPr>
          <a:xfrm>
            <a:off x="914400" y="461772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you have. It drops as orders come in.</a:t>
            </a:r>
            <a:endParaRPr lang="en-US" sz="1400" dirty="0"/>
          </a:p>
        </p:txBody>
      </p:sp>
      <p:sp>
        <p:nvSpPr>
          <p:cNvPr id="17" name="t129"/>
          <p:cNvSpPr txBox="1"/>
          <p:nvPr/>
        </p:nvSpPr>
        <p:spPr>
          <a:xfrm>
            <a:off x="4521098" y="4251960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750" dirty="0"/>
          </a:p>
        </p:txBody>
      </p:sp>
      <p:sp>
        <p:nvSpPr>
          <p:cNvPr id="18" name="t130"/>
          <p:cNvSpPr txBox="1"/>
          <p:nvPr/>
        </p:nvSpPr>
        <p:spPr>
          <a:xfrm>
            <a:off x="4521098" y="461772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it shows up when people browse.</a:t>
            </a:r>
            <a:endParaRPr lang="en-US" sz="1400" dirty="0"/>
          </a:p>
        </p:txBody>
      </p:sp>
      <p:sp>
        <p:nvSpPr>
          <p:cNvPr id="19" name="t131"/>
          <p:cNvSpPr txBox="1"/>
          <p:nvPr/>
        </p:nvSpPr>
        <p:spPr>
          <a:xfrm>
            <a:off x="8127797" y="4251960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Variations</a:t>
            </a:r>
            <a:endParaRPr lang="en-US" sz="1750" dirty="0"/>
          </a:p>
        </p:txBody>
      </p:sp>
      <p:sp>
        <p:nvSpPr>
          <p:cNvPr id="20" name="t132"/>
          <p:cNvSpPr txBox="1"/>
          <p:nvPr/>
        </p:nvSpPr>
        <p:spPr>
          <a:xfrm>
            <a:off x="8127797" y="461772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Sizes, colours, flavours — if it has them.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OF 13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Reviewed, then live.</a:t>
            </a:r>
            <a:endParaRPr lang="en-US" sz="4000" dirty="0"/>
          </a:p>
        </p:txBody>
      </p:sp>
      <p:sp>
        <p:nvSpPr>
          <p:cNvPr id="6" name="t133"/>
          <p:cNvSpPr txBox="1"/>
          <p:nvPr/>
        </p:nvSpPr>
        <p:spPr>
          <a:xfrm>
            <a:off x="1591056" y="17190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listings are checked before they appear, the same way your shop was.</a:t>
            </a:r>
            <a:endParaRPr lang="en-US" sz="1700" dirty="0"/>
          </a:p>
        </p:txBody>
      </p:sp>
      <p:sp>
        <p:nvSpPr>
          <p:cNvPr id="7" name="s134"/>
          <p:cNvSpPr/>
          <p:nvPr/>
        </p:nvSpPr>
        <p:spPr>
          <a:xfrm>
            <a:off x="914400" y="2788920"/>
            <a:ext cx="2419274" cy="1783080"/>
          </a:xfrm>
          <a:prstGeom prst="roundRect">
            <a:avLst>
              <a:gd name="adj" fmla="val 820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8" name="s135"/>
          <p:cNvSpPr/>
          <p:nvPr/>
        </p:nvSpPr>
        <p:spPr>
          <a:xfrm>
            <a:off x="1225296" y="3127248"/>
            <a:ext cx="146304" cy="146304"/>
          </a:xfrm>
          <a:prstGeom prst="ellipse">
            <a:avLst/>
          </a:prstGeom>
          <a:solidFill>
            <a:srgbClr val="86868B"/>
          </a:solidFill>
          <a:ln w="12700">
            <a:solidFill>
              <a:srgbClr val="86868B"/>
            </a:solidFill>
            <a:prstDash val="solid"/>
          </a:ln>
        </p:spPr>
      </p:sp>
      <p:sp>
        <p:nvSpPr>
          <p:cNvPr id="9" name="t136"/>
          <p:cNvSpPr txBox="1"/>
          <p:nvPr/>
        </p:nvSpPr>
        <p:spPr>
          <a:xfrm>
            <a:off x="1499616" y="3017520"/>
            <a:ext cx="1596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700" dirty="0"/>
          </a:p>
        </p:txBody>
      </p:sp>
      <p:sp>
        <p:nvSpPr>
          <p:cNvPr id="10" name="t137"/>
          <p:cNvSpPr txBox="1"/>
          <p:nvPr/>
        </p:nvSpPr>
        <p:spPr>
          <a:xfrm>
            <a:off x="1225296" y="3511296"/>
            <a:ext cx="17974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review. Only you can see it.</a:t>
            </a:r>
            <a:endParaRPr lang="en-US" sz="1350" dirty="0"/>
          </a:p>
        </p:txBody>
      </p:sp>
      <p:sp>
        <p:nvSpPr>
          <p:cNvPr id="11" name="s138"/>
          <p:cNvSpPr/>
          <p:nvPr/>
        </p:nvSpPr>
        <p:spPr>
          <a:xfrm>
            <a:off x="3562274" y="2788920"/>
            <a:ext cx="2419274" cy="1783080"/>
          </a:xfrm>
          <a:prstGeom prst="roundRect">
            <a:avLst>
              <a:gd name="adj" fmla="val 820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2" name="s139"/>
          <p:cNvSpPr/>
          <p:nvPr/>
        </p:nvSpPr>
        <p:spPr>
          <a:xfrm>
            <a:off x="3873170" y="3127248"/>
            <a:ext cx="146304" cy="146304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13" name="t140"/>
          <p:cNvSpPr txBox="1"/>
          <p:nvPr/>
        </p:nvSpPr>
        <p:spPr>
          <a:xfrm>
            <a:off x="4147490" y="3017520"/>
            <a:ext cx="1596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700" dirty="0"/>
          </a:p>
        </p:txBody>
      </p:sp>
      <p:sp>
        <p:nvSpPr>
          <p:cNvPr id="14" name="t141"/>
          <p:cNvSpPr txBox="1"/>
          <p:nvPr/>
        </p:nvSpPr>
        <p:spPr>
          <a:xfrm>
            <a:off x="3873170" y="3511296"/>
            <a:ext cx="17974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— in search and on your shop page.</a:t>
            </a:r>
            <a:endParaRPr lang="en-US" sz="1350" dirty="0"/>
          </a:p>
        </p:txBody>
      </p:sp>
      <p:sp>
        <p:nvSpPr>
          <p:cNvPr id="15" name="s142"/>
          <p:cNvSpPr/>
          <p:nvPr/>
        </p:nvSpPr>
        <p:spPr>
          <a:xfrm>
            <a:off x="6210148" y="2788920"/>
            <a:ext cx="2419274" cy="1783080"/>
          </a:xfrm>
          <a:prstGeom prst="roundRect">
            <a:avLst>
              <a:gd name="adj" fmla="val 820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6" name="s143"/>
          <p:cNvSpPr/>
          <p:nvPr/>
        </p:nvSpPr>
        <p:spPr>
          <a:xfrm>
            <a:off x="6521044" y="3127248"/>
            <a:ext cx="146304" cy="146304"/>
          </a:xfrm>
          <a:prstGeom prst="ellipse">
            <a:avLst/>
          </a:prstGeom>
          <a:solidFill>
            <a:srgbClr val="86868B"/>
          </a:solidFill>
          <a:ln w="12700">
            <a:solidFill>
              <a:srgbClr val="86868B"/>
            </a:solidFill>
            <a:prstDash val="solid"/>
          </a:ln>
        </p:spPr>
      </p:sp>
      <p:sp>
        <p:nvSpPr>
          <p:cNvPr id="17" name="t144"/>
          <p:cNvSpPr txBox="1"/>
          <p:nvPr/>
        </p:nvSpPr>
        <p:spPr>
          <a:xfrm>
            <a:off x="6795364" y="3017520"/>
            <a:ext cx="1596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</a:t>
            </a:r>
            <a:endParaRPr lang="en-US" sz="1700" dirty="0"/>
          </a:p>
        </p:txBody>
      </p:sp>
      <p:sp>
        <p:nvSpPr>
          <p:cNvPr id="18" name="t145"/>
          <p:cNvSpPr txBox="1"/>
          <p:nvPr/>
        </p:nvSpPr>
        <p:spPr>
          <a:xfrm>
            <a:off x="6521044" y="3511296"/>
            <a:ext cx="17974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took it down. Put it back any time.</a:t>
            </a:r>
            <a:endParaRPr lang="en-US" sz="1350" dirty="0"/>
          </a:p>
        </p:txBody>
      </p:sp>
      <p:sp>
        <p:nvSpPr>
          <p:cNvPr id="19" name="s146"/>
          <p:cNvSpPr/>
          <p:nvPr/>
        </p:nvSpPr>
        <p:spPr>
          <a:xfrm>
            <a:off x="8858021" y="2788920"/>
            <a:ext cx="2419274" cy="1783080"/>
          </a:xfrm>
          <a:prstGeom prst="roundRect">
            <a:avLst>
              <a:gd name="adj" fmla="val 820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0" name="s147"/>
          <p:cNvSpPr/>
          <p:nvPr/>
        </p:nvSpPr>
        <p:spPr>
          <a:xfrm>
            <a:off x="9168917" y="3127248"/>
            <a:ext cx="146304" cy="14630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148"/>
          <p:cNvSpPr txBox="1"/>
          <p:nvPr/>
        </p:nvSpPr>
        <p:spPr>
          <a:xfrm>
            <a:off x="9443237" y="3017520"/>
            <a:ext cx="1596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Suspended</a:t>
            </a:r>
            <a:endParaRPr lang="en-US" sz="1700" dirty="0"/>
          </a:p>
        </p:txBody>
      </p:sp>
      <p:sp>
        <p:nvSpPr>
          <p:cNvPr id="22" name="t149"/>
          <p:cNvSpPr txBox="1"/>
          <p:nvPr/>
        </p:nvSpPr>
        <p:spPr>
          <a:xfrm>
            <a:off x="9168917" y="3511296"/>
            <a:ext cx="17974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admin removed it. You are told why.</a:t>
            </a:r>
            <a:endParaRPr lang="en-US" sz="1350" dirty="0"/>
          </a:p>
        </p:txBody>
      </p:sp>
      <p:sp>
        <p:nvSpPr>
          <p:cNvPr id="23" name="t150"/>
          <p:cNvSpPr txBox="1"/>
          <p:nvPr/>
        </p:nvSpPr>
        <p:spPr>
          <a:xfrm>
            <a:off x="914400" y="5120640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approved, your product can be found by anyone browsing your town — and by Google.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 txBox="1"/>
          <p:nvPr/>
        </p:nvSpPr>
        <p:spPr>
          <a:xfrm>
            <a:off x="7498080" y="868680"/>
            <a:ext cx="4206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2C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3000" dirty="0"/>
          </a:p>
        </p:txBody>
      </p:sp>
      <p:sp>
        <p:nvSpPr>
          <p:cNvPr id="3" name="!!kicker"/>
          <p:cNvSpPr txBox="1"/>
          <p:nvPr/>
        </p:nvSpPr>
        <p:spPr>
          <a:xfrm>
            <a:off x="914400" y="24688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250" dirty="0"/>
          </a:p>
        </p:txBody>
      </p:sp>
      <p:sp>
        <p:nvSpPr>
          <p:cNvPr id="4" name="!!title"/>
          <p:cNvSpPr txBox="1"/>
          <p:nvPr/>
        </p:nvSpPr>
        <p:spPr>
          <a:xfrm>
            <a:off x="91440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Selling.</a:t>
            </a:r>
            <a:endParaRPr lang="en-US" sz="5200" dirty="0"/>
          </a:p>
        </p:txBody>
      </p:sp>
      <p:sp>
        <p:nvSpPr>
          <p:cNvPr id="5" name="t151"/>
          <p:cNvSpPr txBox="1"/>
          <p:nvPr/>
        </p:nvSpPr>
        <p:spPr>
          <a:xfrm>
            <a:off x="914400" y="3840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7 – 10</a:t>
            </a:r>
            <a:endParaRPr lang="en-US" sz="18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OF 13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order arrives.</a:t>
            </a:r>
            <a:endParaRPr lang="en-US" sz="4000" dirty="0"/>
          </a:p>
        </p:txBody>
      </p:sp>
      <p:sp>
        <p:nvSpPr>
          <p:cNvPr id="6" name="t152"/>
          <p:cNvSpPr txBox="1"/>
          <p:nvPr/>
        </p:nvSpPr>
        <p:spPr>
          <a:xfrm>
            <a:off x="1591056" y="17190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notified straight away. Every order moves through the same stages.</a:t>
            </a:r>
            <a:endParaRPr lang="en-US" sz="1700" dirty="0"/>
          </a:p>
        </p:txBody>
      </p:sp>
      <p:sp>
        <p:nvSpPr>
          <p:cNvPr id="7" name="s153"/>
          <p:cNvSpPr/>
          <p:nvPr/>
        </p:nvSpPr>
        <p:spPr>
          <a:xfrm>
            <a:off x="1042416" y="3017520"/>
            <a:ext cx="10106863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8" name="s154"/>
          <p:cNvSpPr/>
          <p:nvPr/>
        </p:nvSpPr>
        <p:spPr>
          <a:xfrm>
            <a:off x="932688" y="2907792"/>
            <a:ext cx="219456" cy="219456"/>
          </a:xfrm>
          <a:prstGeom prst="ellipse">
            <a:avLst/>
          </a:prstGeom>
          <a:solidFill>
            <a:srgbClr val="29A366"/>
          </a:solidFill>
          <a:ln w="19050">
            <a:solidFill>
              <a:srgbClr val="29A366"/>
            </a:solidFill>
            <a:prstDash val="solid"/>
          </a:ln>
        </p:spPr>
      </p:sp>
      <p:sp>
        <p:nvSpPr>
          <p:cNvPr id="9" name="t155"/>
          <p:cNvSpPr txBox="1"/>
          <p:nvPr/>
        </p:nvSpPr>
        <p:spPr>
          <a:xfrm>
            <a:off x="914400" y="3310128"/>
            <a:ext cx="18896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700" dirty="0"/>
          </a:p>
        </p:txBody>
      </p:sp>
      <p:sp>
        <p:nvSpPr>
          <p:cNvPr id="10" name="t156"/>
          <p:cNvSpPr txBox="1"/>
          <p:nvPr/>
        </p:nvSpPr>
        <p:spPr>
          <a:xfrm>
            <a:off x="914400" y="3639312"/>
            <a:ext cx="18896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on you</a:t>
            </a:r>
            <a:endParaRPr lang="en-US" sz="1350" dirty="0"/>
          </a:p>
        </p:txBody>
      </p:sp>
      <p:sp>
        <p:nvSpPr>
          <p:cNvPr id="11" name="s157"/>
          <p:cNvSpPr/>
          <p:nvPr/>
        </p:nvSpPr>
        <p:spPr>
          <a:xfrm>
            <a:off x="3005267" y="290779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2D2D7"/>
            </a:solidFill>
            <a:prstDash val="solid"/>
          </a:ln>
        </p:spPr>
      </p:sp>
      <p:sp>
        <p:nvSpPr>
          <p:cNvPr id="12" name="t158"/>
          <p:cNvSpPr txBox="1"/>
          <p:nvPr/>
        </p:nvSpPr>
        <p:spPr>
          <a:xfrm>
            <a:off x="2986979" y="3310128"/>
            <a:ext cx="18896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700" dirty="0"/>
          </a:p>
        </p:txBody>
      </p:sp>
      <p:sp>
        <p:nvSpPr>
          <p:cNvPr id="13" name="t159"/>
          <p:cNvSpPr txBox="1"/>
          <p:nvPr/>
        </p:nvSpPr>
        <p:spPr>
          <a:xfrm>
            <a:off x="2986979" y="3639312"/>
            <a:ext cx="18896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accepted it</a:t>
            </a:r>
            <a:endParaRPr lang="en-US" sz="1350" dirty="0"/>
          </a:p>
        </p:txBody>
      </p:sp>
      <p:sp>
        <p:nvSpPr>
          <p:cNvPr id="14" name="s160"/>
          <p:cNvSpPr/>
          <p:nvPr/>
        </p:nvSpPr>
        <p:spPr>
          <a:xfrm>
            <a:off x="5077846" y="290779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2D2D7"/>
            </a:solidFill>
            <a:prstDash val="solid"/>
          </a:ln>
        </p:spPr>
      </p:sp>
      <p:sp>
        <p:nvSpPr>
          <p:cNvPr id="15" name="t161"/>
          <p:cNvSpPr txBox="1"/>
          <p:nvPr/>
        </p:nvSpPr>
        <p:spPr>
          <a:xfrm>
            <a:off x="5059558" y="3310128"/>
            <a:ext cx="18896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</a:t>
            </a:r>
            <a:endParaRPr lang="en-US" sz="1700" dirty="0"/>
          </a:p>
        </p:txBody>
      </p:sp>
      <p:sp>
        <p:nvSpPr>
          <p:cNvPr id="16" name="t162"/>
          <p:cNvSpPr txBox="1"/>
          <p:nvPr/>
        </p:nvSpPr>
        <p:spPr>
          <a:xfrm>
            <a:off x="5059558" y="3639312"/>
            <a:ext cx="18896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packing</a:t>
            </a:r>
            <a:endParaRPr lang="en-US" sz="1350" dirty="0"/>
          </a:p>
        </p:txBody>
      </p:sp>
      <p:sp>
        <p:nvSpPr>
          <p:cNvPr id="17" name="s163"/>
          <p:cNvSpPr/>
          <p:nvPr/>
        </p:nvSpPr>
        <p:spPr>
          <a:xfrm>
            <a:off x="7150425" y="290779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2D2D7"/>
            </a:solidFill>
            <a:prstDash val="solid"/>
          </a:ln>
        </p:spPr>
      </p:sp>
      <p:sp>
        <p:nvSpPr>
          <p:cNvPr id="18" name="t164"/>
          <p:cNvSpPr txBox="1"/>
          <p:nvPr/>
        </p:nvSpPr>
        <p:spPr>
          <a:xfrm>
            <a:off x="7132137" y="3310128"/>
            <a:ext cx="18896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700" dirty="0"/>
          </a:p>
        </p:txBody>
      </p:sp>
      <p:sp>
        <p:nvSpPr>
          <p:cNvPr id="19" name="t165"/>
          <p:cNvSpPr txBox="1"/>
          <p:nvPr/>
        </p:nvSpPr>
        <p:spPr>
          <a:xfrm>
            <a:off x="7132137" y="3639312"/>
            <a:ext cx="18896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ship or collect</a:t>
            </a:r>
            <a:endParaRPr lang="en-US" sz="1350" dirty="0"/>
          </a:p>
        </p:txBody>
      </p:sp>
      <p:sp>
        <p:nvSpPr>
          <p:cNvPr id="20" name="s166"/>
          <p:cNvSpPr/>
          <p:nvPr/>
        </p:nvSpPr>
        <p:spPr>
          <a:xfrm>
            <a:off x="9223004" y="290779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2D2D7"/>
            </a:solidFill>
            <a:prstDash val="solid"/>
          </a:ln>
        </p:spPr>
      </p:sp>
      <p:sp>
        <p:nvSpPr>
          <p:cNvPr id="21" name="t167"/>
          <p:cNvSpPr txBox="1"/>
          <p:nvPr/>
        </p:nvSpPr>
        <p:spPr>
          <a:xfrm>
            <a:off x="9204716" y="3310128"/>
            <a:ext cx="18896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700" dirty="0"/>
          </a:p>
        </p:txBody>
      </p:sp>
      <p:sp>
        <p:nvSpPr>
          <p:cNvPr id="22" name="t168"/>
          <p:cNvSpPr txBox="1"/>
          <p:nvPr/>
        </p:nvSpPr>
        <p:spPr>
          <a:xfrm>
            <a:off x="9204716" y="3639312"/>
            <a:ext cx="18896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buyer has it</a:t>
            </a:r>
            <a:endParaRPr lang="en-US" sz="1350" dirty="0"/>
          </a:p>
        </p:txBody>
      </p:sp>
      <p:sp>
        <p:nvSpPr>
          <p:cNvPr id="23" name="t169"/>
          <p:cNvSpPr txBox="1"/>
          <p:nvPr/>
        </p:nvSpPr>
        <p:spPr>
          <a:xfrm>
            <a:off x="914400" y="4434840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it quickly</a:t>
            </a:r>
            <a:endParaRPr lang="en-US" sz="1750" dirty="0"/>
          </a:p>
        </p:txBody>
      </p:sp>
      <p:sp>
        <p:nvSpPr>
          <p:cNvPr id="24" name="t170"/>
          <p:cNvSpPr txBox="1"/>
          <p:nvPr/>
        </p:nvSpPr>
        <p:spPr>
          <a:xfrm>
            <a:off x="914400" y="4818888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pending order holds the buyer’s stock and their patience. Same day is the standard.</a:t>
            </a:r>
            <a:endParaRPr lang="en-US" sz="1450" dirty="0"/>
          </a:p>
        </p:txBody>
      </p:sp>
      <p:sp>
        <p:nvSpPr>
          <p:cNvPr id="25" name="t171"/>
          <p:cNvSpPr txBox="1"/>
          <p:nvPr/>
        </p:nvSpPr>
        <p:spPr>
          <a:xfrm>
            <a:off x="6324448" y="4434840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status honest</a:t>
            </a:r>
            <a:endParaRPr lang="en-US" sz="1750" dirty="0"/>
          </a:p>
        </p:txBody>
      </p:sp>
      <p:sp>
        <p:nvSpPr>
          <p:cNvPr id="26" name="t172"/>
          <p:cNvSpPr txBox="1"/>
          <p:nvPr/>
        </p:nvSpPr>
        <p:spPr>
          <a:xfrm>
            <a:off x="6324448" y="4818888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it along as you actually pack and hand over. The buyer sees exactly what you set.</a:t>
            </a:r>
            <a:endParaRPr lang="en-US" sz="1450" dirty="0"/>
          </a:p>
        </p:txBody>
      </p:sp>
      <p:sp>
        <p:nvSpPr>
          <p:cNvPr id="27" name="t173"/>
          <p:cNvSpPr txBox="1"/>
          <p:nvPr/>
        </p:nvSpPr>
        <p:spPr>
          <a:xfrm>
            <a:off x="914400" y="576072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Cancelling returns the stock and tells the buyer. Use it only when you genuinely cannot fulfil.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00"/>
                            </p:stCondLst>
                            <p:childTnLst>
                              <p:par>
                                <p:cTn id="1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 OF 13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payment.</a:t>
            </a:r>
            <a:endParaRPr lang="en-US" sz="4000" dirty="0"/>
          </a:p>
        </p:txBody>
      </p:sp>
      <p:sp>
        <p:nvSpPr>
          <p:cNvPr id="6" name="t174"/>
          <p:cNvSpPr txBox="1"/>
          <p:nvPr/>
        </p:nvSpPr>
        <p:spPr>
          <a:xfrm>
            <a:off x="914400" y="22402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on delivery</a:t>
            </a:r>
            <a:endParaRPr lang="en-US" sz="2100" dirty="0"/>
          </a:p>
        </p:txBody>
      </p:sp>
      <p:sp>
        <p:nvSpPr>
          <p:cNvPr id="7" name="t175"/>
          <p:cNvSpPr txBox="1"/>
          <p:nvPr/>
        </p:nvSpPr>
        <p:spPr>
          <a:xfrm>
            <a:off x="914400" y="2697480"/>
            <a:ext cx="454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check. You collect the money when the buyer receives the item. Switch COD off in your shop settings if you would rather not.</a:t>
            </a:r>
            <a:endParaRPr lang="en-US" sz="1500" dirty="0"/>
          </a:p>
        </p:txBody>
      </p:sp>
      <p:sp>
        <p:nvSpPr>
          <p:cNvPr id="8" name="t176"/>
          <p:cNvSpPr txBox="1"/>
          <p:nvPr/>
        </p:nvSpPr>
        <p:spPr>
          <a:xfrm>
            <a:off x="6370168" y="22402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by QR</a:t>
            </a:r>
            <a:endParaRPr lang="en-US" sz="2100" dirty="0"/>
          </a:p>
        </p:txBody>
      </p:sp>
      <p:sp>
        <p:nvSpPr>
          <p:cNvPr id="9" name="t177"/>
          <p:cNvSpPr txBox="1"/>
          <p:nvPr/>
        </p:nvSpPr>
        <p:spPr>
          <a:xfrm>
            <a:off x="6370168" y="2697480"/>
            <a:ext cx="454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buyer scans your QR Ph or GCash code with their own app, pays you directly, and uploads a screenshot. You check it, then accept or reject it. Nothing is automatic.</a:t>
            </a:r>
            <a:endParaRPr lang="en-US" sz="1500" dirty="0"/>
          </a:p>
        </p:txBody>
      </p:sp>
      <p:sp>
        <p:nvSpPr>
          <p:cNvPr id="10" name="s178"/>
          <p:cNvSpPr/>
          <p:nvPr/>
        </p:nvSpPr>
        <p:spPr>
          <a:xfrm>
            <a:off x="914400" y="4160520"/>
            <a:ext cx="10362895" cy="1783080"/>
          </a:xfrm>
          <a:prstGeom prst="roundRect">
            <a:avLst>
              <a:gd name="adj" fmla="val 820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1" name="s179"/>
          <p:cNvSpPr/>
          <p:nvPr/>
        </p:nvSpPr>
        <p:spPr>
          <a:xfrm>
            <a:off x="1325880" y="4553712"/>
            <a:ext cx="146304" cy="14630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180"/>
          <p:cNvSpPr txBox="1"/>
          <p:nvPr/>
        </p:nvSpPr>
        <p:spPr>
          <a:xfrm>
            <a:off x="1627632" y="44439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Rejecting a proof does not cancel the order.</a:t>
            </a:r>
            <a:endParaRPr lang="en-US" sz="1800" dirty="0"/>
          </a:p>
        </p:txBody>
      </p:sp>
      <p:sp>
        <p:nvSpPr>
          <p:cNvPr id="13" name="t181"/>
          <p:cNvSpPr txBox="1"/>
          <p:nvPr/>
        </p:nvSpPr>
        <p:spPr>
          <a:xfrm>
            <a:off x="1325880" y="4901184"/>
            <a:ext cx="9539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stays open and the stock stays reserved while the buyer uploads a new screenshot — and it expires on its own if they never do. Reject only when the money genuinely did not arrive or the proof is wrong.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 OF 13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and hand over.</a:t>
            </a:r>
            <a:endParaRPr lang="en-US" sz="4000" dirty="0"/>
          </a:p>
        </p:txBody>
      </p:sp>
      <p:sp>
        <p:nvSpPr>
          <p:cNvPr id="6" name="t182"/>
          <p:cNvSpPr txBox="1"/>
          <p:nvPr/>
        </p:nvSpPr>
        <p:spPr>
          <a:xfrm>
            <a:off x="914400" y="21671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183"/>
          <p:cNvSpPr txBox="1"/>
          <p:nvPr/>
        </p:nvSpPr>
        <p:spPr>
          <a:xfrm>
            <a:off x="1783080" y="2148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800" dirty="0"/>
          </a:p>
        </p:txBody>
      </p:sp>
      <p:sp>
        <p:nvSpPr>
          <p:cNvPr id="8" name="t184"/>
          <p:cNvSpPr txBox="1"/>
          <p:nvPr/>
        </p:nvSpPr>
        <p:spPr>
          <a:xfrm>
            <a:off x="4297680" y="218541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the order so the buyer knows it is happening.</a:t>
            </a:r>
            <a:endParaRPr lang="en-US" sz="1500" dirty="0"/>
          </a:p>
        </p:txBody>
      </p:sp>
      <p:sp>
        <p:nvSpPr>
          <p:cNvPr id="9" name="s185"/>
          <p:cNvSpPr/>
          <p:nvPr/>
        </p:nvSpPr>
        <p:spPr>
          <a:xfrm>
            <a:off x="914400" y="2807208"/>
            <a:ext cx="10362895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186"/>
          <p:cNvSpPr txBox="1"/>
          <p:nvPr/>
        </p:nvSpPr>
        <p:spPr>
          <a:xfrm>
            <a:off x="914400" y="30358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187"/>
          <p:cNvSpPr txBox="1"/>
          <p:nvPr/>
        </p:nvSpPr>
        <p:spPr>
          <a:xfrm>
            <a:off x="1783080" y="30175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1800" dirty="0"/>
          </a:p>
        </p:txBody>
      </p:sp>
      <p:sp>
        <p:nvSpPr>
          <p:cNvPr id="12" name="t188"/>
          <p:cNvSpPr txBox="1"/>
          <p:nvPr/>
        </p:nvSpPr>
        <p:spPr>
          <a:xfrm>
            <a:off x="4297680" y="305409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it. Mark it as preparing so the buyer sees progress.</a:t>
            </a:r>
            <a:endParaRPr lang="en-US" sz="1500" dirty="0"/>
          </a:p>
        </p:txBody>
      </p:sp>
      <p:sp>
        <p:nvSpPr>
          <p:cNvPr id="13" name="s189"/>
          <p:cNvSpPr/>
          <p:nvPr/>
        </p:nvSpPr>
        <p:spPr>
          <a:xfrm>
            <a:off x="914400" y="3675888"/>
            <a:ext cx="10362895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4" name="t190"/>
          <p:cNvSpPr txBox="1"/>
          <p:nvPr/>
        </p:nvSpPr>
        <p:spPr>
          <a:xfrm>
            <a:off x="914400" y="39044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191"/>
          <p:cNvSpPr txBox="1"/>
          <p:nvPr/>
        </p:nvSpPr>
        <p:spPr>
          <a:xfrm>
            <a:off x="1783080" y="3886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800" dirty="0"/>
          </a:p>
        </p:txBody>
      </p:sp>
      <p:sp>
        <p:nvSpPr>
          <p:cNvPr id="16" name="t192"/>
          <p:cNvSpPr txBox="1"/>
          <p:nvPr/>
        </p:nvSpPr>
        <p:spPr>
          <a:xfrm>
            <a:off x="4297680" y="392277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it to ship, or ready for pickup.</a:t>
            </a:r>
            <a:endParaRPr lang="en-US" sz="1500" dirty="0"/>
          </a:p>
        </p:txBody>
      </p:sp>
      <p:sp>
        <p:nvSpPr>
          <p:cNvPr id="17" name="s193"/>
          <p:cNvSpPr/>
          <p:nvPr/>
        </p:nvSpPr>
        <p:spPr>
          <a:xfrm>
            <a:off x="914400" y="4544568"/>
            <a:ext cx="10362895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8" name="t194"/>
          <p:cNvSpPr txBox="1"/>
          <p:nvPr/>
        </p:nvSpPr>
        <p:spPr>
          <a:xfrm>
            <a:off x="914400" y="47731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195"/>
          <p:cNvSpPr txBox="1"/>
          <p:nvPr/>
        </p:nvSpPr>
        <p:spPr>
          <a:xfrm>
            <a:off x="1783080" y="4754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800" dirty="0"/>
          </a:p>
        </p:txBody>
      </p:sp>
      <p:sp>
        <p:nvSpPr>
          <p:cNvPr id="20" name="t196"/>
          <p:cNvSpPr txBox="1"/>
          <p:nvPr/>
        </p:nvSpPr>
        <p:spPr>
          <a:xfrm>
            <a:off x="4297680" y="479145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it is in the buyer’s hands, close the order.</a:t>
            </a:r>
            <a:endParaRPr lang="en-US" sz="1500" dirty="0"/>
          </a:p>
        </p:txBody>
      </p:sp>
      <p:sp>
        <p:nvSpPr>
          <p:cNvPr id="21" name="s197"/>
          <p:cNvSpPr/>
          <p:nvPr/>
        </p:nvSpPr>
        <p:spPr>
          <a:xfrm>
            <a:off x="914400" y="5623560"/>
            <a:ext cx="10362895" cy="713232"/>
          </a:xfrm>
          <a:prstGeom prst="roundRect">
            <a:avLst>
              <a:gd name="adj" fmla="val 2051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2" name="t198"/>
          <p:cNvSpPr txBox="1"/>
          <p:nvPr/>
        </p:nvSpPr>
        <p:spPr>
          <a:xfrm>
            <a:off x="1280160" y="5833872"/>
            <a:ext cx="9631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Completing the order is what invites the buyer to review you. Do not leave delivered orders open.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 OF 13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Delivery, pickup, or both.</a:t>
            </a:r>
            <a:endParaRPr lang="en-US" sz="4000" dirty="0"/>
          </a:p>
        </p:txBody>
      </p:sp>
      <p:sp>
        <p:nvSpPr>
          <p:cNvPr id="6" name="t199"/>
          <p:cNvSpPr txBox="1"/>
          <p:nvPr/>
        </p:nvSpPr>
        <p:spPr>
          <a:xfrm>
            <a:off x="1591056" y="17190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choose how you trade.</a:t>
            </a:r>
            <a:endParaRPr lang="en-US" sz="1700" dirty="0"/>
          </a:p>
        </p:txBody>
      </p:sp>
      <p:sp>
        <p:nvSpPr>
          <p:cNvPr id="7" name="t200"/>
          <p:cNvSpPr txBox="1"/>
          <p:nvPr/>
        </p:nvSpPr>
        <p:spPr>
          <a:xfrm>
            <a:off x="914400" y="2743200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2400" dirty="0"/>
          </a:p>
        </p:txBody>
      </p:sp>
      <p:sp>
        <p:nvSpPr>
          <p:cNvPr id="8" name="s201"/>
          <p:cNvSpPr/>
          <p:nvPr/>
        </p:nvSpPr>
        <p:spPr>
          <a:xfrm>
            <a:off x="914400" y="3246120"/>
            <a:ext cx="472424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9" name="t202"/>
          <p:cNvSpPr txBox="1"/>
          <p:nvPr/>
        </p:nvSpPr>
        <p:spPr>
          <a:xfrm>
            <a:off x="914400" y="342900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set which towns you deliver to</a:t>
            </a:r>
            <a:endParaRPr lang="en-US" sz="1550" dirty="0"/>
          </a:p>
        </p:txBody>
      </p:sp>
      <p:sp>
        <p:nvSpPr>
          <p:cNvPr id="10" name="t203"/>
          <p:cNvSpPr txBox="1"/>
          <p:nvPr/>
        </p:nvSpPr>
        <p:spPr>
          <a:xfrm>
            <a:off x="914400" y="3904488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delivery fee is added at checkout</a:t>
            </a:r>
            <a:endParaRPr lang="en-US" sz="1550" dirty="0"/>
          </a:p>
        </p:txBody>
      </p:sp>
      <p:sp>
        <p:nvSpPr>
          <p:cNvPr id="11" name="t204"/>
          <p:cNvSpPr txBox="1"/>
          <p:nvPr/>
        </p:nvSpPr>
        <p:spPr>
          <a:xfrm>
            <a:off x="914400" y="4379976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over a set amount ship free</a:t>
            </a:r>
            <a:endParaRPr lang="en-US" sz="1550" dirty="0"/>
          </a:p>
        </p:txBody>
      </p:sp>
      <p:sp>
        <p:nvSpPr>
          <p:cNvPr id="12" name="t205"/>
          <p:cNvSpPr txBox="1"/>
          <p:nvPr/>
        </p:nvSpPr>
        <p:spPr>
          <a:xfrm>
            <a:off x="914400" y="4855464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mark it out for delivery</a:t>
            </a:r>
            <a:endParaRPr lang="en-US" sz="1550" dirty="0"/>
          </a:p>
        </p:txBody>
      </p:sp>
      <p:sp>
        <p:nvSpPr>
          <p:cNvPr id="13" name="t206"/>
          <p:cNvSpPr txBox="1"/>
          <p:nvPr/>
        </p:nvSpPr>
        <p:spPr>
          <a:xfrm>
            <a:off x="6370168" y="2743200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</a:t>
            </a:r>
            <a:endParaRPr lang="en-US" sz="2400" dirty="0"/>
          </a:p>
        </p:txBody>
      </p:sp>
      <p:sp>
        <p:nvSpPr>
          <p:cNvPr id="14" name="s207"/>
          <p:cNvSpPr/>
          <p:nvPr/>
        </p:nvSpPr>
        <p:spPr>
          <a:xfrm>
            <a:off x="6370168" y="3246120"/>
            <a:ext cx="472424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5" name="t208"/>
          <p:cNvSpPr txBox="1"/>
          <p:nvPr/>
        </p:nvSpPr>
        <p:spPr>
          <a:xfrm>
            <a:off x="6370168" y="342900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buyer collects from you</a:t>
            </a:r>
            <a:endParaRPr lang="en-US" sz="1550" dirty="0"/>
          </a:p>
        </p:txBody>
      </p:sp>
      <p:sp>
        <p:nvSpPr>
          <p:cNvPr id="16" name="t209"/>
          <p:cNvSpPr txBox="1"/>
          <p:nvPr/>
        </p:nvSpPr>
        <p:spPr>
          <a:xfrm>
            <a:off x="6370168" y="3904488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give the address and instructions</a:t>
            </a:r>
            <a:endParaRPr lang="en-US" sz="1550" dirty="0"/>
          </a:p>
        </p:txBody>
      </p:sp>
      <p:sp>
        <p:nvSpPr>
          <p:cNvPr id="17" name="t210"/>
          <p:cNvSpPr txBox="1"/>
          <p:nvPr/>
        </p:nvSpPr>
        <p:spPr>
          <a:xfrm>
            <a:off x="6370168" y="4379976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delivery fee</a:t>
            </a:r>
            <a:endParaRPr lang="en-US" sz="1550" dirty="0"/>
          </a:p>
        </p:txBody>
      </p:sp>
      <p:sp>
        <p:nvSpPr>
          <p:cNvPr id="18" name="t211"/>
          <p:cNvSpPr txBox="1"/>
          <p:nvPr/>
        </p:nvSpPr>
        <p:spPr>
          <a:xfrm>
            <a:off x="6370168" y="4855464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mark it ready for pickup</a:t>
            </a:r>
            <a:endParaRPr lang="en-US" sz="1550" dirty="0"/>
          </a:p>
        </p:txBody>
      </p:sp>
      <p:sp>
        <p:nvSpPr>
          <p:cNvPr id="19" name="t212"/>
          <p:cNvSpPr txBox="1"/>
          <p:nvPr/>
        </p:nvSpPr>
        <p:spPr>
          <a:xfrm>
            <a:off x="914400" y="5669280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is usually right: nearby buyers save the fee, and far ones can still order.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 txBox="1"/>
          <p:nvPr/>
        </p:nvSpPr>
        <p:spPr>
          <a:xfrm>
            <a:off x="7498080" y="868680"/>
            <a:ext cx="4206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2C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3000" dirty="0"/>
          </a:p>
        </p:txBody>
      </p:sp>
      <p:sp>
        <p:nvSpPr>
          <p:cNvPr id="3" name="!!kicker"/>
          <p:cNvSpPr txBox="1"/>
          <p:nvPr/>
        </p:nvSpPr>
        <p:spPr>
          <a:xfrm>
            <a:off x="914400" y="24688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250" dirty="0"/>
          </a:p>
        </p:txBody>
      </p:sp>
      <p:sp>
        <p:nvSpPr>
          <p:cNvPr id="4" name="!!title"/>
          <p:cNvSpPr txBox="1"/>
          <p:nvPr/>
        </p:nvSpPr>
        <p:spPr>
          <a:xfrm>
            <a:off x="91440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sale.</a:t>
            </a:r>
            <a:endParaRPr lang="en-US" sz="5200" dirty="0"/>
          </a:p>
        </p:txBody>
      </p:sp>
      <p:sp>
        <p:nvSpPr>
          <p:cNvPr id="5" name="t213"/>
          <p:cNvSpPr txBox="1"/>
          <p:nvPr/>
        </p:nvSpPr>
        <p:spPr>
          <a:xfrm>
            <a:off x="914400" y="3840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11 – 13</a:t>
            </a:r>
            <a:endParaRPr lang="en-US" sz="18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11 OF 13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build the shop.</a:t>
            </a:r>
            <a:endParaRPr lang="en-US" sz="4000" dirty="0"/>
          </a:p>
        </p:txBody>
      </p:sp>
      <p:sp>
        <p:nvSpPr>
          <p:cNvPr id="6" name="t214"/>
          <p:cNvSpPr txBox="1"/>
          <p:nvPr/>
        </p:nvSpPr>
        <p:spPr>
          <a:xfrm>
            <a:off x="914400" y="21945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complete an order, the buyer is invited to rate it and add a photo. Those ratings show on your product pages and on your shop.</a:t>
            </a:r>
            <a:endParaRPr lang="en-US" sz="1600" dirty="0"/>
          </a:p>
        </p:txBody>
      </p:sp>
      <p:sp>
        <p:nvSpPr>
          <p:cNvPr id="7" name="t215"/>
          <p:cNvSpPr txBox="1"/>
          <p:nvPr/>
        </p:nvSpPr>
        <p:spPr>
          <a:xfrm>
            <a:off x="914400" y="34290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when you said you would. Late delivery is the most common complaint.</a:t>
            </a:r>
            <a:endParaRPr lang="en-US" sz="1450" dirty="0"/>
          </a:p>
        </p:txBody>
      </p:sp>
      <p:sp>
        <p:nvSpPr>
          <p:cNvPr id="8" name="s216"/>
          <p:cNvSpPr/>
          <p:nvPr/>
        </p:nvSpPr>
        <p:spPr>
          <a:xfrm>
            <a:off x="914400" y="4050792"/>
            <a:ext cx="5669280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9" name="t217"/>
          <p:cNvSpPr txBox="1"/>
          <p:nvPr/>
        </p:nvSpPr>
        <p:spPr>
          <a:xfrm>
            <a:off x="914400" y="42062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flaws honestly. A surprise is worse than an imperfection.</a:t>
            </a:r>
            <a:endParaRPr lang="en-US" sz="1450" dirty="0"/>
          </a:p>
        </p:txBody>
      </p:sp>
      <p:sp>
        <p:nvSpPr>
          <p:cNvPr id="10" name="s218"/>
          <p:cNvSpPr/>
          <p:nvPr/>
        </p:nvSpPr>
        <p:spPr>
          <a:xfrm>
            <a:off x="914400" y="4828032"/>
            <a:ext cx="5669280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1" name="t219"/>
          <p:cNvSpPr txBox="1"/>
          <p:nvPr/>
        </p:nvSpPr>
        <p:spPr>
          <a:xfrm>
            <a:off x="914400" y="49834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well. Most one-star reviews are about damage, not the product.</a:t>
            </a:r>
            <a:endParaRPr lang="en-US" sz="1450" dirty="0"/>
          </a:p>
        </p:txBody>
      </p:sp>
      <p:sp>
        <p:nvSpPr>
          <p:cNvPr id="12" name="s220"/>
          <p:cNvSpPr/>
          <p:nvPr/>
        </p:nvSpPr>
        <p:spPr>
          <a:xfrm>
            <a:off x="7223760" y="2194560"/>
            <a:ext cx="4050792" cy="3108960"/>
          </a:xfrm>
          <a:prstGeom prst="roundRect">
            <a:avLst>
              <a:gd name="adj" fmla="val 4706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3" name="t221"/>
          <p:cNvSpPr txBox="1"/>
          <p:nvPr/>
        </p:nvSpPr>
        <p:spPr>
          <a:xfrm>
            <a:off x="7589520" y="2606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30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2800" dirty="0"/>
          </a:p>
        </p:txBody>
      </p:sp>
      <p:sp>
        <p:nvSpPr>
          <p:cNvPr id="14" name="t222"/>
          <p:cNvSpPr txBox="1"/>
          <p:nvPr/>
        </p:nvSpPr>
        <p:spPr>
          <a:xfrm>
            <a:off x="7589520" y="3291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thing a new buyer looks at.</a:t>
            </a:r>
            <a:endParaRPr lang="en-US" sz="1800" dirty="0"/>
          </a:p>
        </p:txBody>
      </p:sp>
      <p:sp>
        <p:nvSpPr>
          <p:cNvPr id="15" name="t223"/>
          <p:cNvSpPr txBox="1"/>
          <p:nvPr/>
        </p:nvSpPr>
        <p:spPr>
          <a:xfrm>
            <a:off x="7589520" y="4160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one order at a time. The cheapest advertising you will ever have.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12 OF 13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Returns, handled well.</a:t>
            </a:r>
            <a:endParaRPr lang="en-US" sz="4000" dirty="0"/>
          </a:p>
        </p:txBody>
      </p:sp>
      <p:sp>
        <p:nvSpPr>
          <p:cNvPr id="6" name="t224"/>
          <p:cNvSpPr txBox="1"/>
          <p:nvPr/>
        </p:nvSpPr>
        <p:spPr>
          <a:xfrm>
            <a:off x="914400" y="2194560"/>
            <a:ext cx="238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225"/>
          <p:cNvSpPr txBox="1"/>
          <p:nvPr/>
        </p:nvSpPr>
        <p:spPr>
          <a:xfrm>
            <a:off x="914400" y="2743200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asks</a:t>
            </a:r>
            <a:endParaRPr lang="en-US" sz="1700" dirty="0"/>
          </a:p>
        </p:txBody>
      </p:sp>
      <p:sp>
        <p:nvSpPr>
          <p:cNvPr id="8" name="t226"/>
          <p:cNvSpPr txBox="1"/>
          <p:nvPr/>
        </p:nvSpPr>
        <p:spPr>
          <a:xfrm>
            <a:off x="914400" y="3127248"/>
            <a:ext cx="2384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open a return request against the order and say why.</a:t>
            </a:r>
            <a:endParaRPr lang="en-US" sz="1400" dirty="0"/>
          </a:p>
        </p:txBody>
      </p:sp>
      <p:sp>
        <p:nvSpPr>
          <p:cNvPr id="9" name="t227"/>
          <p:cNvSpPr txBox="1"/>
          <p:nvPr/>
        </p:nvSpPr>
        <p:spPr>
          <a:xfrm>
            <a:off x="3573704" y="2194560"/>
            <a:ext cx="238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228"/>
          <p:cNvSpPr txBox="1"/>
          <p:nvPr/>
        </p:nvSpPr>
        <p:spPr>
          <a:xfrm>
            <a:off x="3573704" y="2743200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decide</a:t>
            </a:r>
            <a:endParaRPr lang="en-US" sz="1700" dirty="0"/>
          </a:p>
        </p:txBody>
      </p:sp>
      <p:sp>
        <p:nvSpPr>
          <p:cNvPr id="11" name="t229"/>
          <p:cNvSpPr txBox="1"/>
          <p:nvPr/>
        </p:nvSpPr>
        <p:spPr>
          <a:xfrm>
            <a:off x="3573704" y="3127248"/>
            <a:ext cx="2384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it or turn it down, with your reason.</a:t>
            </a:r>
            <a:endParaRPr lang="en-US" sz="1400" dirty="0"/>
          </a:p>
        </p:txBody>
      </p:sp>
      <p:sp>
        <p:nvSpPr>
          <p:cNvPr id="12" name="t230"/>
          <p:cNvSpPr txBox="1"/>
          <p:nvPr/>
        </p:nvSpPr>
        <p:spPr>
          <a:xfrm>
            <a:off x="6233008" y="2194560"/>
            <a:ext cx="238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231"/>
          <p:cNvSpPr txBox="1"/>
          <p:nvPr/>
        </p:nvSpPr>
        <p:spPr>
          <a:xfrm>
            <a:off x="6233008" y="2743200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comes back</a:t>
            </a:r>
            <a:endParaRPr lang="en-US" sz="1700" dirty="0"/>
          </a:p>
        </p:txBody>
      </p:sp>
      <p:sp>
        <p:nvSpPr>
          <p:cNvPr id="14" name="t232"/>
          <p:cNvSpPr txBox="1"/>
          <p:nvPr/>
        </p:nvSpPr>
        <p:spPr>
          <a:xfrm>
            <a:off x="6233008" y="3127248"/>
            <a:ext cx="2384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approved, you confirm when it arrives.</a:t>
            </a:r>
            <a:endParaRPr lang="en-US" sz="1400" dirty="0"/>
          </a:p>
        </p:txBody>
      </p:sp>
      <p:sp>
        <p:nvSpPr>
          <p:cNvPr id="15" name="t233"/>
          <p:cNvSpPr txBox="1"/>
          <p:nvPr/>
        </p:nvSpPr>
        <p:spPr>
          <a:xfrm>
            <a:off x="8892311" y="2194560"/>
            <a:ext cx="238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6" name="t234"/>
          <p:cNvSpPr txBox="1"/>
          <p:nvPr/>
        </p:nvSpPr>
        <p:spPr>
          <a:xfrm>
            <a:off x="8892311" y="2743200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refund</a:t>
            </a:r>
            <a:endParaRPr lang="en-US" sz="1700" dirty="0"/>
          </a:p>
        </p:txBody>
      </p:sp>
      <p:sp>
        <p:nvSpPr>
          <p:cNvPr id="17" name="t235"/>
          <p:cNvSpPr txBox="1"/>
          <p:nvPr/>
        </p:nvSpPr>
        <p:spPr>
          <a:xfrm>
            <a:off x="8892311" y="3127248"/>
            <a:ext cx="2384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the money, then record the refund.</a:t>
            </a:r>
            <a:endParaRPr lang="en-US" sz="1400" dirty="0"/>
          </a:p>
        </p:txBody>
      </p:sp>
      <p:sp>
        <p:nvSpPr>
          <p:cNvPr id="18" name="s236"/>
          <p:cNvSpPr/>
          <p:nvPr/>
        </p:nvSpPr>
        <p:spPr>
          <a:xfrm>
            <a:off x="914400" y="4343400"/>
            <a:ext cx="10362895" cy="155448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9" name="t237"/>
          <p:cNvSpPr txBox="1"/>
          <p:nvPr/>
        </p:nvSpPr>
        <p:spPr>
          <a:xfrm>
            <a:off x="1325880" y="4617720"/>
            <a:ext cx="9539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refund only once the buyer actually has the money back.</a:t>
            </a:r>
            <a:endParaRPr lang="en-US" sz="1800" dirty="0"/>
          </a:p>
        </p:txBody>
      </p:sp>
      <p:sp>
        <p:nvSpPr>
          <p:cNvPr id="20" name="t238"/>
          <p:cNvSpPr txBox="1"/>
          <p:nvPr/>
        </p:nvSpPr>
        <p:spPr>
          <a:xfrm>
            <a:off x="1325880" y="5029200"/>
            <a:ext cx="9539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is what your earnings are calculated from, and it cannot be undone. A return handled well often keeps the customer — a fought one never does.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13 OF 13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money stays yours.</a:t>
            </a:r>
            <a:endParaRPr lang="en-US" sz="4000" dirty="0"/>
          </a:p>
        </p:txBody>
      </p:sp>
      <p:sp>
        <p:nvSpPr>
          <p:cNvPr id="6" name="s239"/>
          <p:cNvSpPr/>
          <p:nvPr/>
        </p:nvSpPr>
        <p:spPr>
          <a:xfrm>
            <a:off x="914400" y="2148840"/>
            <a:ext cx="10362895" cy="1325880"/>
          </a:xfrm>
          <a:prstGeom prst="roundRect">
            <a:avLst>
              <a:gd name="adj" fmla="val 11034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7" name="t240"/>
          <p:cNvSpPr txBox="1"/>
          <p:nvPr/>
        </p:nvSpPr>
        <p:spPr>
          <a:xfrm>
            <a:off x="1371600" y="2395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E-MOORM never holds your money.</a:t>
            </a:r>
            <a:endParaRPr lang="en-US" sz="2300" dirty="0"/>
          </a:p>
        </p:txBody>
      </p:sp>
      <p:sp>
        <p:nvSpPr>
          <p:cNvPr id="8" name="t241"/>
          <p:cNvSpPr txBox="1"/>
          <p:nvPr/>
        </p:nvSpPr>
        <p:spPr>
          <a:xfrm>
            <a:off x="1371600" y="28529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commission. No automatic payments. No payout to wait for. Buyers pay you directly.</a:t>
            </a:r>
            <a:endParaRPr lang="en-US" sz="1500" dirty="0"/>
          </a:p>
        </p:txBody>
      </p:sp>
      <p:sp>
        <p:nvSpPr>
          <p:cNvPr id="9" name="t242"/>
          <p:cNvSpPr txBox="1"/>
          <p:nvPr/>
        </p:nvSpPr>
        <p:spPr>
          <a:xfrm>
            <a:off x="914400" y="3794760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Ph</a:t>
            </a:r>
            <a:endParaRPr lang="en-US" sz="1750" dirty="0"/>
          </a:p>
        </p:txBody>
      </p:sp>
      <p:sp>
        <p:nvSpPr>
          <p:cNvPr id="10" name="t243"/>
          <p:cNvSpPr txBox="1"/>
          <p:nvPr/>
        </p:nvSpPr>
        <p:spPr>
          <a:xfrm>
            <a:off x="914400" y="4160520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pay from GCash, Maya, or any bank app that supports QR Ph.</a:t>
            </a:r>
            <a:endParaRPr lang="en-US" sz="1350" dirty="0"/>
          </a:p>
        </p:txBody>
      </p:sp>
      <p:sp>
        <p:nvSpPr>
          <p:cNvPr id="11" name="t244"/>
          <p:cNvSpPr txBox="1"/>
          <p:nvPr/>
        </p:nvSpPr>
        <p:spPr>
          <a:xfrm>
            <a:off x="4521098" y="3794760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GCash QR</a:t>
            </a:r>
            <a:endParaRPr lang="en-US" sz="1750" dirty="0"/>
          </a:p>
        </p:txBody>
      </p:sp>
      <p:sp>
        <p:nvSpPr>
          <p:cNvPr id="12" name="t245"/>
          <p:cNvSpPr txBox="1"/>
          <p:nvPr/>
        </p:nvSpPr>
        <p:spPr>
          <a:xfrm>
            <a:off x="4521098" y="4160520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would rather show a GCash-only code.</a:t>
            </a:r>
            <a:endParaRPr lang="en-US" sz="1350" dirty="0"/>
          </a:p>
        </p:txBody>
      </p:sp>
      <p:sp>
        <p:nvSpPr>
          <p:cNvPr id="13" name="t246"/>
          <p:cNvSpPr txBox="1"/>
          <p:nvPr/>
        </p:nvSpPr>
        <p:spPr>
          <a:xfrm>
            <a:off x="8127797" y="3794760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on delivery</a:t>
            </a:r>
            <a:endParaRPr lang="en-US" sz="1750" dirty="0"/>
          </a:p>
        </p:txBody>
      </p:sp>
      <p:sp>
        <p:nvSpPr>
          <p:cNvPr id="14" name="t247"/>
          <p:cNvSpPr txBox="1"/>
          <p:nvPr/>
        </p:nvSpPr>
        <p:spPr>
          <a:xfrm>
            <a:off x="8127797" y="4160520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collect the money when you hand over.</a:t>
            </a:r>
            <a:endParaRPr lang="en-US" sz="1350" dirty="0"/>
          </a:p>
        </p:txBody>
      </p:sp>
      <p:sp>
        <p:nvSpPr>
          <p:cNvPr id="15" name="s248"/>
          <p:cNvSpPr/>
          <p:nvPr/>
        </p:nvSpPr>
        <p:spPr>
          <a:xfrm>
            <a:off x="914400" y="4846320"/>
            <a:ext cx="10362895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6" name="t249"/>
          <p:cNvSpPr txBox="1"/>
          <p:nvPr/>
        </p:nvSpPr>
        <p:spPr>
          <a:xfrm>
            <a:off x="914400" y="50292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FINANCE PAGE</a:t>
            </a:r>
            <a:endParaRPr lang="en-US" sz="1150" dirty="0"/>
          </a:p>
        </p:txBody>
      </p:sp>
      <p:sp>
        <p:nvSpPr>
          <p:cNvPr id="17" name="t250"/>
          <p:cNvSpPr txBox="1"/>
          <p:nvPr/>
        </p:nvSpPr>
        <p:spPr>
          <a:xfrm>
            <a:off x="914400" y="5376672"/>
            <a:ext cx="24078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 this period</a:t>
            </a:r>
            <a:endParaRPr lang="en-US" sz="1500" dirty="0"/>
          </a:p>
        </p:txBody>
      </p:sp>
      <p:sp>
        <p:nvSpPr>
          <p:cNvPr id="18" name="t251"/>
          <p:cNvSpPr txBox="1"/>
          <p:nvPr/>
        </p:nvSpPr>
        <p:spPr>
          <a:xfrm>
            <a:off x="3505124" y="5376672"/>
            <a:ext cx="24078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earnings</a:t>
            </a:r>
            <a:endParaRPr lang="en-US" sz="1500" dirty="0"/>
          </a:p>
        </p:txBody>
      </p:sp>
      <p:sp>
        <p:nvSpPr>
          <p:cNvPr id="19" name="t252"/>
          <p:cNvSpPr txBox="1"/>
          <p:nvPr/>
        </p:nvSpPr>
        <p:spPr>
          <a:xfrm>
            <a:off x="6095848" y="5376672"/>
            <a:ext cx="24078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in progress</a:t>
            </a:r>
            <a:endParaRPr lang="en-US" sz="1500" dirty="0"/>
          </a:p>
        </p:txBody>
      </p:sp>
      <p:sp>
        <p:nvSpPr>
          <p:cNvPr id="20" name="t253"/>
          <p:cNvSpPr txBox="1"/>
          <p:nvPr/>
        </p:nvSpPr>
        <p:spPr>
          <a:xfrm>
            <a:off x="8686571" y="5376672"/>
            <a:ext cx="24078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value</a:t>
            </a:r>
            <a:endParaRPr lang="en-US" sz="1500" dirty="0"/>
          </a:p>
        </p:txBody>
      </p:sp>
      <p:sp>
        <p:nvSpPr>
          <p:cNvPr id="21" name="t254"/>
          <p:cNvSpPr txBox="1"/>
          <p:nvPr/>
        </p:nvSpPr>
        <p:spPr>
          <a:xfrm>
            <a:off x="914400" y="585216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completed order can be exported to a spreadsheet.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914400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13 STEPS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914400" y="914400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to day.</a:t>
            </a:r>
            <a:endParaRPr lang="en-US" sz="4000" dirty="0"/>
          </a:p>
        </p:txBody>
      </p:sp>
      <p:sp>
        <p:nvSpPr>
          <p:cNvPr id="4" name="t255"/>
          <p:cNvSpPr txBox="1"/>
          <p:nvPr/>
        </p:nvSpPr>
        <p:spPr>
          <a:xfrm>
            <a:off x="914400" y="22402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2100" dirty="0"/>
          </a:p>
        </p:txBody>
      </p:sp>
      <p:sp>
        <p:nvSpPr>
          <p:cNvPr id="5" name="t256"/>
          <p:cNvSpPr txBox="1"/>
          <p:nvPr/>
        </p:nvSpPr>
        <p:spPr>
          <a:xfrm>
            <a:off x="914400" y="2697480"/>
            <a:ext cx="308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can ask before they order. Answering quickly is often what wins the sale.</a:t>
            </a:r>
            <a:endParaRPr lang="en-US" sz="1500" dirty="0"/>
          </a:p>
        </p:txBody>
      </p:sp>
      <p:sp>
        <p:nvSpPr>
          <p:cNvPr id="6" name="t257"/>
          <p:cNvSpPr txBox="1"/>
          <p:nvPr/>
        </p:nvSpPr>
        <p:spPr>
          <a:xfrm>
            <a:off x="4551578" y="22402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</a:t>
            </a:r>
            <a:endParaRPr lang="en-US" sz="2100" dirty="0"/>
          </a:p>
        </p:txBody>
      </p:sp>
      <p:sp>
        <p:nvSpPr>
          <p:cNvPr id="7" name="t258"/>
          <p:cNvSpPr txBox="1"/>
          <p:nvPr/>
        </p:nvSpPr>
        <p:spPr>
          <a:xfrm>
            <a:off x="4551578" y="2697480"/>
            <a:ext cx="308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people who follow your shop about something new, or a promotion.</a:t>
            </a:r>
            <a:endParaRPr lang="en-US" sz="1500" dirty="0"/>
          </a:p>
        </p:txBody>
      </p:sp>
      <p:sp>
        <p:nvSpPr>
          <p:cNvPr id="8" name="t259"/>
          <p:cNvSpPr txBox="1"/>
          <p:nvPr/>
        </p:nvSpPr>
        <p:spPr>
          <a:xfrm>
            <a:off x="8188757" y="22402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2100" dirty="0"/>
          </a:p>
        </p:txBody>
      </p:sp>
      <p:sp>
        <p:nvSpPr>
          <p:cNvPr id="9" name="t260"/>
          <p:cNvSpPr txBox="1"/>
          <p:nvPr/>
        </p:nvSpPr>
        <p:spPr>
          <a:xfrm>
            <a:off x="8188757" y="2697480"/>
            <a:ext cx="308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selling, what is being looked at, and when your buyers are active.</a:t>
            </a:r>
            <a:endParaRPr lang="en-US" sz="1500" dirty="0"/>
          </a:p>
        </p:txBody>
      </p:sp>
      <p:sp>
        <p:nvSpPr>
          <p:cNvPr id="10" name="s261"/>
          <p:cNvSpPr/>
          <p:nvPr/>
        </p:nvSpPr>
        <p:spPr>
          <a:xfrm>
            <a:off x="914400" y="4160520"/>
            <a:ext cx="10362895" cy="1691640"/>
          </a:xfrm>
          <a:prstGeom prst="roundRect">
            <a:avLst>
              <a:gd name="adj" fmla="val 8649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1" name="t262"/>
          <p:cNvSpPr txBox="1"/>
          <p:nvPr/>
        </p:nvSpPr>
        <p:spPr>
          <a:xfrm>
            <a:off x="1325880" y="44348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something goes wrong</a:t>
            </a:r>
            <a:endParaRPr lang="en-US" sz="1800" dirty="0"/>
          </a:p>
        </p:txBody>
      </p:sp>
      <p:sp>
        <p:nvSpPr>
          <p:cNvPr id="12" name="t263"/>
          <p:cNvSpPr txBox="1"/>
          <p:nvPr/>
        </p:nvSpPr>
        <p:spPr>
          <a:xfrm>
            <a:off x="1325880" y="484632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support case and it goes to the admin for your municipality — the same people who approved you. If a buyer is abusive or never pays, report them from the order itself.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914400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RULES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914400" y="914400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things that end a shop.</a:t>
            </a:r>
            <a:endParaRPr lang="en-US" sz="4000" dirty="0"/>
          </a:p>
        </p:txBody>
      </p:sp>
      <p:sp>
        <p:nvSpPr>
          <p:cNvPr id="4" name="t264"/>
          <p:cNvSpPr txBox="1"/>
          <p:nvPr/>
        </p:nvSpPr>
        <p:spPr>
          <a:xfrm>
            <a:off x="914400" y="171907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Rare, but worth knowing. Buyers can report a listing or a shop, and a municipal admin reviews it.</a:t>
            </a:r>
            <a:endParaRPr lang="en-US" sz="1700" dirty="0"/>
          </a:p>
        </p:txBody>
      </p:sp>
      <p:sp>
        <p:nvSpPr>
          <p:cNvPr id="5" name="t265"/>
          <p:cNvSpPr txBox="1"/>
          <p:nvPr/>
        </p:nvSpPr>
        <p:spPr>
          <a:xfrm>
            <a:off x="914400" y="2788920"/>
            <a:ext cx="481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 goods</a:t>
            </a:r>
            <a:endParaRPr lang="en-US" sz="1900" dirty="0"/>
          </a:p>
        </p:txBody>
      </p:sp>
      <p:sp>
        <p:nvSpPr>
          <p:cNvPr id="6" name="t266"/>
          <p:cNvSpPr txBox="1"/>
          <p:nvPr/>
        </p:nvSpPr>
        <p:spPr>
          <a:xfrm>
            <a:off x="914400" y="3172968"/>
            <a:ext cx="481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 fakes as genuine.</a:t>
            </a:r>
            <a:endParaRPr lang="en-US" sz="1450" dirty="0"/>
          </a:p>
        </p:txBody>
      </p:sp>
      <p:sp>
        <p:nvSpPr>
          <p:cNvPr id="7" name="s267"/>
          <p:cNvSpPr/>
          <p:nvPr/>
        </p:nvSpPr>
        <p:spPr>
          <a:xfrm>
            <a:off x="914400" y="3703320"/>
            <a:ext cx="481568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8" name="t268"/>
          <p:cNvSpPr txBox="1"/>
          <p:nvPr/>
        </p:nvSpPr>
        <p:spPr>
          <a:xfrm>
            <a:off x="6461608" y="2788920"/>
            <a:ext cx="481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Prohibited items</a:t>
            </a:r>
            <a:endParaRPr lang="en-US" sz="1900" dirty="0"/>
          </a:p>
        </p:txBody>
      </p:sp>
      <p:sp>
        <p:nvSpPr>
          <p:cNvPr id="9" name="t269"/>
          <p:cNvSpPr txBox="1"/>
          <p:nvPr/>
        </p:nvSpPr>
        <p:spPr>
          <a:xfrm>
            <a:off x="6461608" y="3172968"/>
            <a:ext cx="481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that is not legal to sell.</a:t>
            </a:r>
            <a:endParaRPr lang="en-US" sz="1450" dirty="0"/>
          </a:p>
        </p:txBody>
      </p:sp>
      <p:sp>
        <p:nvSpPr>
          <p:cNvPr id="10" name="s270"/>
          <p:cNvSpPr/>
          <p:nvPr/>
        </p:nvSpPr>
        <p:spPr>
          <a:xfrm>
            <a:off x="6461608" y="3703320"/>
            <a:ext cx="481568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1" name="t271"/>
          <p:cNvSpPr txBox="1"/>
          <p:nvPr/>
        </p:nvSpPr>
        <p:spPr>
          <a:xfrm>
            <a:off x="914400" y="4023360"/>
            <a:ext cx="481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Misleading listings</a:t>
            </a:r>
            <a:endParaRPr lang="en-US" sz="1900" dirty="0"/>
          </a:p>
        </p:txBody>
      </p:sp>
      <p:sp>
        <p:nvSpPr>
          <p:cNvPr id="12" name="t272"/>
          <p:cNvSpPr txBox="1"/>
          <p:nvPr/>
        </p:nvSpPr>
        <p:spPr>
          <a:xfrm>
            <a:off x="914400" y="4407408"/>
            <a:ext cx="481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or descriptions that are not the item.</a:t>
            </a:r>
            <a:endParaRPr lang="en-US" sz="1450" dirty="0"/>
          </a:p>
        </p:txBody>
      </p:sp>
      <p:sp>
        <p:nvSpPr>
          <p:cNvPr id="13" name="t273"/>
          <p:cNvSpPr txBox="1"/>
          <p:nvPr/>
        </p:nvSpPr>
        <p:spPr>
          <a:xfrm>
            <a:off x="6461608" y="4023360"/>
            <a:ext cx="481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delivering</a:t>
            </a:r>
            <a:endParaRPr lang="en-US" sz="1900" dirty="0"/>
          </a:p>
        </p:txBody>
      </p:sp>
      <p:sp>
        <p:nvSpPr>
          <p:cNvPr id="14" name="t274"/>
          <p:cNvSpPr txBox="1"/>
          <p:nvPr/>
        </p:nvSpPr>
        <p:spPr>
          <a:xfrm>
            <a:off x="6461608" y="4407408"/>
            <a:ext cx="481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payment and not sending the goods.</a:t>
            </a:r>
            <a:endParaRPr lang="en-US" sz="1450" dirty="0"/>
          </a:p>
        </p:txBody>
      </p:sp>
      <p:sp>
        <p:nvSpPr>
          <p:cNvPr id="15" name="t275"/>
          <p:cNvSpPr txBox="1"/>
          <p:nvPr/>
        </p:nvSpPr>
        <p:spPr>
          <a:xfrm>
            <a:off x="914400" y="55321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honestly and none of this will ever concern you.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914400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914400" y="914400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thirteen.</a:t>
            </a:r>
            <a:endParaRPr lang="en-US" sz="4000" dirty="0"/>
          </a:p>
        </p:txBody>
      </p:sp>
      <p:sp>
        <p:nvSpPr>
          <p:cNvPr id="4" name="t276"/>
          <p:cNvSpPr txBox="1"/>
          <p:nvPr/>
        </p:nvSpPr>
        <p:spPr>
          <a:xfrm>
            <a:off x="914400" y="2121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t277"/>
          <p:cNvSpPr txBox="1"/>
          <p:nvPr/>
        </p:nvSpPr>
        <p:spPr>
          <a:xfrm>
            <a:off x="1600200" y="210312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account</a:t>
            </a:r>
            <a:endParaRPr lang="en-US" sz="1700" dirty="0"/>
          </a:p>
        </p:txBody>
      </p:sp>
      <p:sp>
        <p:nvSpPr>
          <p:cNvPr id="6" name="t278"/>
          <p:cNvSpPr txBox="1"/>
          <p:nvPr/>
        </p:nvSpPr>
        <p:spPr>
          <a:xfrm>
            <a:off x="914400" y="2944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7" name="t279"/>
          <p:cNvSpPr txBox="1"/>
          <p:nvPr/>
        </p:nvSpPr>
        <p:spPr>
          <a:xfrm>
            <a:off x="1600200" y="292608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sell</a:t>
            </a:r>
            <a:endParaRPr lang="en-US" sz="1700" dirty="0"/>
          </a:p>
        </p:txBody>
      </p:sp>
      <p:sp>
        <p:nvSpPr>
          <p:cNvPr id="8" name="t280"/>
          <p:cNvSpPr txBox="1"/>
          <p:nvPr/>
        </p:nvSpPr>
        <p:spPr>
          <a:xfrm>
            <a:off x="914400" y="37673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9" name="t281"/>
          <p:cNvSpPr txBox="1"/>
          <p:nvPr/>
        </p:nvSpPr>
        <p:spPr>
          <a:xfrm>
            <a:off x="1600200" y="374904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approval</a:t>
            </a:r>
            <a:endParaRPr lang="en-US" sz="1700" dirty="0"/>
          </a:p>
        </p:txBody>
      </p:sp>
      <p:sp>
        <p:nvSpPr>
          <p:cNvPr id="10" name="t282"/>
          <p:cNvSpPr txBox="1"/>
          <p:nvPr/>
        </p:nvSpPr>
        <p:spPr>
          <a:xfrm>
            <a:off x="914400" y="45902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11" name="t283"/>
          <p:cNvSpPr txBox="1"/>
          <p:nvPr/>
        </p:nvSpPr>
        <p:spPr>
          <a:xfrm>
            <a:off x="1600200" y="457200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your shop</a:t>
            </a:r>
            <a:endParaRPr lang="en-US" sz="1700" dirty="0"/>
          </a:p>
        </p:txBody>
      </p:sp>
      <p:sp>
        <p:nvSpPr>
          <p:cNvPr id="12" name="t284"/>
          <p:cNvSpPr txBox="1"/>
          <p:nvPr/>
        </p:nvSpPr>
        <p:spPr>
          <a:xfrm>
            <a:off x="914400" y="54132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00" dirty="0"/>
          </a:p>
        </p:txBody>
      </p:sp>
      <p:sp>
        <p:nvSpPr>
          <p:cNvPr id="13" name="t285"/>
          <p:cNvSpPr txBox="1"/>
          <p:nvPr/>
        </p:nvSpPr>
        <p:spPr>
          <a:xfrm>
            <a:off x="1600200" y="539496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first product</a:t>
            </a:r>
            <a:endParaRPr lang="en-US" sz="1700" dirty="0"/>
          </a:p>
        </p:txBody>
      </p:sp>
      <p:sp>
        <p:nvSpPr>
          <p:cNvPr id="14" name="t286"/>
          <p:cNvSpPr txBox="1"/>
          <p:nvPr/>
        </p:nvSpPr>
        <p:spPr>
          <a:xfrm>
            <a:off x="4521098" y="2121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00" dirty="0"/>
          </a:p>
        </p:txBody>
      </p:sp>
      <p:sp>
        <p:nvSpPr>
          <p:cNvPr id="15" name="t287"/>
          <p:cNvSpPr txBox="1"/>
          <p:nvPr/>
        </p:nvSpPr>
        <p:spPr>
          <a:xfrm>
            <a:off x="5206898" y="210312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Reviewed, then live</a:t>
            </a:r>
            <a:endParaRPr lang="en-US" sz="1700" dirty="0"/>
          </a:p>
        </p:txBody>
      </p:sp>
      <p:sp>
        <p:nvSpPr>
          <p:cNvPr id="16" name="t288"/>
          <p:cNvSpPr txBox="1"/>
          <p:nvPr/>
        </p:nvSpPr>
        <p:spPr>
          <a:xfrm>
            <a:off x="4521098" y="2944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900" dirty="0"/>
          </a:p>
        </p:txBody>
      </p:sp>
      <p:sp>
        <p:nvSpPr>
          <p:cNvPr id="17" name="t289"/>
          <p:cNvSpPr txBox="1"/>
          <p:nvPr/>
        </p:nvSpPr>
        <p:spPr>
          <a:xfrm>
            <a:off x="5206898" y="292608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order arrives</a:t>
            </a:r>
            <a:endParaRPr lang="en-US" sz="1700" dirty="0"/>
          </a:p>
        </p:txBody>
      </p:sp>
      <p:sp>
        <p:nvSpPr>
          <p:cNvPr id="18" name="t290"/>
          <p:cNvSpPr txBox="1"/>
          <p:nvPr/>
        </p:nvSpPr>
        <p:spPr>
          <a:xfrm>
            <a:off x="4521098" y="37673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900" dirty="0"/>
          </a:p>
        </p:txBody>
      </p:sp>
      <p:sp>
        <p:nvSpPr>
          <p:cNvPr id="19" name="t291"/>
          <p:cNvSpPr txBox="1"/>
          <p:nvPr/>
        </p:nvSpPr>
        <p:spPr>
          <a:xfrm>
            <a:off x="5206898" y="374904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payment</a:t>
            </a:r>
            <a:endParaRPr lang="en-US" sz="1700" dirty="0"/>
          </a:p>
        </p:txBody>
      </p:sp>
      <p:sp>
        <p:nvSpPr>
          <p:cNvPr id="20" name="t292"/>
          <p:cNvSpPr txBox="1"/>
          <p:nvPr/>
        </p:nvSpPr>
        <p:spPr>
          <a:xfrm>
            <a:off x="4521098" y="45902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900" dirty="0"/>
          </a:p>
        </p:txBody>
      </p:sp>
      <p:sp>
        <p:nvSpPr>
          <p:cNvPr id="21" name="t293"/>
          <p:cNvSpPr txBox="1"/>
          <p:nvPr/>
        </p:nvSpPr>
        <p:spPr>
          <a:xfrm>
            <a:off x="5206898" y="457200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and hand over</a:t>
            </a:r>
            <a:endParaRPr lang="en-US" sz="1700" dirty="0"/>
          </a:p>
        </p:txBody>
      </p:sp>
      <p:sp>
        <p:nvSpPr>
          <p:cNvPr id="22" name="t294"/>
          <p:cNvSpPr txBox="1"/>
          <p:nvPr/>
        </p:nvSpPr>
        <p:spPr>
          <a:xfrm>
            <a:off x="4521098" y="54132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900" dirty="0"/>
          </a:p>
        </p:txBody>
      </p:sp>
      <p:sp>
        <p:nvSpPr>
          <p:cNvPr id="23" name="t295"/>
          <p:cNvSpPr txBox="1"/>
          <p:nvPr/>
        </p:nvSpPr>
        <p:spPr>
          <a:xfrm>
            <a:off x="5206898" y="539496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or pickup</a:t>
            </a:r>
            <a:endParaRPr lang="en-US" sz="1700" dirty="0"/>
          </a:p>
        </p:txBody>
      </p:sp>
      <p:sp>
        <p:nvSpPr>
          <p:cNvPr id="24" name="t296"/>
          <p:cNvSpPr txBox="1"/>
          <p:nvPr/>
        </p:nvSpPr>
        <p:spPr>
          <a:xfrm>
            <a:off x="8127797" y="2121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900" dirty="0"/>
          </a:p>
        </p:txBody>
      </p:sp>
      <p:sp>
        <p:nvSpPr>
          <p:cNvPr id="25" name="t297"/>
          <p:cNvSpPr txBox="1"/>
          <p:nvPr/>
        </p:nvSpPr>
        <p:spPr>
          <a:xfrm>
            <a:off x="8813597" y="210312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1700" dirty="0"/>
          </a:p>
        </p:txBody>
      </p:sp>
      <p:sp>
        <p:nvSpPr>
          <p:cNvPr id="26" name="t298"/>
          <p:cNvSpPr txBox="1"/>
          <p:nvPr/>
        </p:nvSpPr>
        <p:spPr>
          <a:xfrm>
            <a:off x="8127797" y="2944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900" dirty="0"/>
          </a:p>
        </p:txBody>
      </p:sp>
      <p:sp>
        <p:nvSpPr>
          <p:cNvPr id="27" name="t299"/>
          <p:cNvSpPr txBox="1"/>
          <p:nvPr/>
        </p:nvSpPr>
        <p:spPr>
          <a:xfrm>
            <a:off x="8813597" y="292608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and refunds</a:t>
            </a:r>
            <a:endParaRPr lang="en-US" sz="1700" dirty="0"/>
          </a:p>
        </p:txBody>
      </p:sp>
      <p:sp>
        <p:nvSpPr>
          <p:cNvPr id="28" name="t300"/>
          <p:cNvSpPr txBox="1"/>
          <p:nvPr/>
        </p:nvSpPr>
        <p:spPr>
          <a:xfrm>
            <a:off x="8127797" y="37673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900" dirty="0"/>
          </a:p>
        </p:txBody>
      </p:sp>
      <p:sp>
        <p:nvSpPr>
          <p:cNvPr id="29" name="t301"/>
          <p:cNvSpPr txBox="1"/>
          <p:nvPr/>
        </p:nvSpPr>
        <p:spPr>
          <a:xfrm>
            <a:off x="8813597" y="374904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money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00"/>
                            </p:stCondLst>
                            <p:childTnLst>
                              <p:par>
                                <p:cTn id="1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low"/>
          <p:cNvSpPr/>
          <p:nvPr/>
        </p:nvSpPr>
        <p:spPr>
          <a:xfrm>
            <a:off x="7863840" y="2194560"/>
            <a:ext cx="6766560" cy="6766560"/>
          </a:xfrm>
          <a:prstGeom prst="ellipse">
            <a:avLst/>
          </a:prstGeom>
          <a:solidFill>
            <a:srgbClr val="29A366">
              <a:alpha val="16000"/>
            </a:srgbClr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title"/>
          <p:cNvSpPr txBox="1"/>
          <p:nvPr/>
        </p:nvSpPr>
        <p:spPr>
          <a:xfrm>
            <a:off x="914400" y="21488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selling.</a:t>
            </a:r>
            <a:endParaRPr lang="en-US" sz="6200" dirty="0"/>
          </a:p>
        </p:txBody>
      </p:sp>
      <p:sp>
        <p:nvSpPr>
          <p:cNvPr id="4" name="t302"/>
          <p:cNvSpPr txBox="1"/>
          <p:nvPr/>
        </p:nvSpPr>
        <p:spPr>
          <a:xfrm>
            <a:off x="914400" y="3474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account, apply, and your municipal admin takes it from there.</a:t>
            </a:r>
            <a:endParaRPr lang="en-US" sz="2000" dirty="0"/>
          </a:p>
        </p:txBody>
      </p:sp>
      <p:sp>
        <p:nvSpPr>
          <p:cNvPr id="5" name="t303"/>
          <p:cNvSpPr txBox="1"/>
          <p:nvPr/>
        </p:nvSpPr>
        <p:spPr>
          <a:xfrm>
            <a:off x="914400" y="46177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emoorm.shop</a:t>
            </a:r>
            <a:endParaRPr lang="en-US" sz="3000" dirty="0"/>
          </a:p>
        </p:txBody>
      </p:sp>
      <p:sp>
        <p:nvSpPr>
          <p:cNvPr id="6" name="t304"/>
          <p:cNvSpPr txBox="1"/>
          <p:nvPr/>
        </p:nvSpPr>
        <p:spPr>
          <a:xfrm>
            <a:off x="914400" y="576072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Open a support case — it goes to the admin for your own municipality.</a:t>
            </a:r>
            <a:endParaRPr lang="en-US" sz="135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Sell on E-MOORM — Seller Guide</dc:title>
  <dc:subject>PptxGenJS Presentation</dc:subject>
  <dc:creator>E-MOORM</dc:creator>
  <cp:lastModifiedBy>E-MOORM</cp:lastModifiedBy>
  <cp:revision>1</cp:revision>
  <dcterms:created xsi:type="dcterms:W3CDTF">2026-09-25T04:16:09Z</dcterms:created>
  <dcterms:modified xsi:type="dcterms:W3CDTF">2026-09-25T04:16:09Z</dcterms:modified>
</cp:coreProperties>
</file>