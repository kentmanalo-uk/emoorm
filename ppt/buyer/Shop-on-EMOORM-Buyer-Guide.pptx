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Twelve steps from looking around to getting a refund if you ever need one. You can browse without an account; you only sign up when you want to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approval point matters: nobody can open a shop without a municipal admin looking at their ID and their address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public is open without signing in: products, shops, town pages,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province is fixed to Oriental Mindoro. Buyers pick only their municipality and barangay.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is required before checkout by default. The daily limit is five attempts. A failed check gives the reason, and the support link pre-fills a case to the municipal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a shop subscribes you to its announcements and new-product notices.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buyers with a completed order can review, so reviews are from people who actually received the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delivery fee and the free-delivery threshold are platform settings. Whether a shop delivers to a given town is up to that 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goes straight to the seller’s own account. The screenshot is the proof; the seller accepts or rejects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Cancellation is only possible while the order is PENDING; it restores the stock. After that the seller has to cancel.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of the seller’s rule: a rejected proof keeps the order open with stock reserved, waits for a new upload, and expires automatically if none 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are tied to completed orders and can include photos. They appear on the product and roll up to the shop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Returns have their own status flow, separate from cancellation. Refunds are recorded by the seller once the money is back with the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cases and reports route to municipal admins. Feedback goes to the platform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public profile shows municipality, never the street. Sellers see delivery details only on their own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light. The point is that the app is the safe channel because it keeps a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hand-out slide. Three steps before the first purchase, then it is browsing and buying.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local point again: every seller was approved by a person in their 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low"/>
          <p:cNvSpPr/>
          <p:nvPr/>
        </p:nvSpPr>
        <p:spPr>
          <a:xfrm>
            <a:off x="7863840" y="-2377440"/>
            <a:ext cx="6766560" cy="6766560"/>
          </a:xfrm>
          <a:prstGeom prst="ellipse">
            <a:avLst/>
          </a:prstGeom>
          <a:solidFill>
            <a:srgbClr val="29A366">
              <a:alpha val="16000"/>
            </a:srgbClr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kicker"/>
          <p:cNvSpPr txBox="1"/>
          <p:nvPr/>
        </p:nvSpPr>
        <p:spPr>
          <a:xfrm>
            <a:off x="9144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E-MOORM</a:t>
            </a:r>
            <a:endParaRPr lang="en-US" sz="130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0116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on E-MOORM.</a:t>
            </a:r>
            <a:endParaRPr lang="en-US" sz="6600" dirty="0"/>
          </a:p>
        </p:txBody>
      </p:sp>
      <p:sp>
        <p:nvSpPr>
          <p:cNvPr id="5" name="t1"/>
          <p:cNvSpPr txBox="1"/>
          <p:nvPr/>
        </p:nvSpPr>
        <p:spPr>
          <a:xfrm>
            <a:off x="914400" y="342900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products from every town in Oriental Mindoro —</a:t>
            </a:r>
            <a:endParaRPr lang="en-US" sz="21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delivered, or picked up near you.</a:t>
            </a:r>
            <a:endParaRPr lang="en-US" sz="2100" dirty="0"/>
          </a:p>
        </p:txBody>
      </p:sp>
      <p:sp>
        <p:nvSpPr>
          <p:cNvPr id="6" name="t2"/>
          <p:cNvSpPr txBox="1"/>
          <p:nvPr/>
        </p:nvSpPr>
        <p:spPr>
          <a:xfrm>
            <a:off x="914400" y="4800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steps  ·  about eight minutes</a:t>
            </a:r>
            <a:endParaRPr lang="en-US" sz="1400" dirty="0"/>
          </a:p>
        </p:txBody>
      </p:sp>
      <p:sp>
        <p:nvSpPr>
          <p:cNvPr id="7" name="t3"/>
          <p:cNvSpPr txBox="1"/>
          <p:nvPr/>
        </p:nvSpPr>
        <p:spPr>
          <a:xfrm>
            <a:off x="914400" y="5806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emoorm.shop</a:t>
            </a:r>
            <a:endParaRPr lang="en-US" sz="14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SHOP HERE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reasons.</a:t>
            </a:r>
            <a:endParaRPr lang="en-US" sz="4000" dirty="0"/>
          </a:p>
        </p:txBody>
      </p:sp>
      <p:sp>
        <p:nvSpPr>
          <p:cNvPr id="4" name="t4"/>
          <p:cNvSpPr txBox="1"/>
          <p:nvPr/>
        </p:nvSpPr>
        <p:spPr>
          <a:xfrm>
            <a:off x="914400" y="2240280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0" dirty="0"/>
          </a:p>
        </p:txBody>
      </p:sp>
      <p:sp>
        <p:nvSpPr>
          <p:cNvPr id="5" name="t5"/>
          <p:cNvSpPr txBox="1"/>
          <p:nvPr/>
        </p:nvSpPr>
        <p:spPr>
          <a:xfrm>
            <a:off x="914400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towns, one place</a:t>
            </a:r>
            <a:endParaRPr lang="en-US" sz="1900" dirty="0"/>
          </a:p>
        </p:txBody>
      </p:sp>
      <p:sp>
        <p:nvSpPr>
          <p:cNvPr id="6" name="t6"/>
          <p:cNvSpPr txBox="1"/>
          <p:nvPr/>
        </p:nvSpPr>
        <p:spPr>
          <a:xfrm>
            <a:off x="914400" y="3950208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municipality in Oriental Mindoro. Filter to yours, or browse the whole province.</a:t>
            </a:r>
            <a:endParaRPr lang="en-US" sz="1500" dirty="0"/>
          </a:p>
        </p:txBody>
      </p:sp>
      <p:sp>
        <p:nvSpPr>
          <p:cNvPr id="7" name="t7"/>
          <p:cNvSpPr txBox="1"/>
          <p:nvPr/>
        </p:nvSpPr>
        <p:spPr>
          <a:xfrm>
            <a:off x="4551578" y="2240280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0" dirty="0"/>
          </a:p>
        </p:txBody>
      </p:sp>
      <p:sp>
        <p:nvSpPr>
          <p:cNvPr id="8" name="t8"/>
          <p:cNvSpPr txBox="1"/>
          <p:nvPr/>
        </p:nvSpPr>
        <p:spPr>
          <a:xfrm>
            <a:off x="4551578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per town</a:t>
            </a:r>
            <a:endParaRPr lang="en-US" sz="1900" dirty="0"/>
          </a:p>
        </p:txBody>
      </p:sp>
      <p:sp>
        <p:nvSpPr>
          <p:cNvPr id="9" name="t9"/>
          <p:cNvSpPr txBox="1"/>
          <p:nvPr/>
        </p:nvSpPr>
        <p:spPr>
          <a:xfrm>
            <a:off x="4551578" y="3950208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shop is approved by a real person in its own municipality before it can sell.</a:t>
            </a:r>
            <a:endParaRPr lang="en-US" sz="1500" dirty="0"/>
          </a:p>
        </p:txBody>
      </p:sp>
      <p:sp>
        <p:nvSpPr>
          <p:cNvPr id="10" name="t10"/>
          <p:cNvSpPr txBox="1"/>
          <p:nvPr/>
        </p:nvSpPr>
        <p:spPr>
          <a:xfrm>
            <a:off x="8188757" y="2240280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0" dirty="0"/>
          </a:p>
        </p:txBody>
      </p:sp>
      <p:sp>
        <p:nvSpPr>
          <p:cNvPr id="11" name="t11"/>
          <p:cNvSpPr txBox="1"/>
          <p:nvPr/>
        </p:nvSpPr>
        <p:spPr>
          <a:xfrm>
            <a:off x="8188757" y="3520440"/>
            <a:ext cx="3088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 to pay</a:t>
            </a:r>
            <a:endParaRPr lang="en-US" sz="1900" dirty="0"/>
          </a:p>
        </p:txBody>
      </p:sp>
      <p:sp>
        <p:nvSpPr>
          <p:cNvPr id="12" name="t12"/>
          <p:cNvSpPr txBox="1"/>
          <p:nvPr/>
        </p:nvSpPr>
        <p:spPr>
          <a:xfrm>
            <a:off x="8188757" y="3950208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when it arrives, or scan a QR code with the GCash, Maya or bank app you already use.</a:t>
            </a:r>
            <a:endParaRPr lang="en-US" sz="1500" dirty="0"/>
          </a:p>
        </p:txBody>
      </p:sp>
      <p:sp>
        <p:nvSpPr>
          <p:cNvPr id="13" name="s13"/>
          <p:cNvSpPr/>
          <p:nvPr/>
        </p:nvSpPr>
        <p:spPr>
          <a:xfrm>
            <a:off x="914400" y="5349240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4" name="t14"/>
          <p:cNvSpPr txBox="1"/>
          <p:nvPr/>
        </p:nvSpPr>
        <p:spPr>
          <a:xfrm>
            <a:off x="914400" y="5577840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charges. What you see at checkout — the item plus any delivery fee — is what you pay.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 txBox="1"/>
          <p:nvPr/>
        </p:nvSpPr>
        <p:spPr>
          <a:xfrm>
            <a:off x="7498080" y="86868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C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000" dirty="0"/>
          </a:p>
        </p:txBody>
      </p:sp>
      <p:sp>
        <p:nvSpPr>
          <p:cNvPr id="3" name="!!kicker"/>
          <p:cNvSpPr txBox="1"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25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started.</a:t>
            </a:r>
            <a:endParaRPr lang="en-US" sz="5200" dirty="0"/>
          </a:p>
        </p:txBody>
      </p:sp>
      <p:sp>
        <p:nvSpPr>
          <p:cNvPr id="5" name="t15"/>
          <p:cNvSpPr txBox="1"/>
          <p:nvPr/>
        </p:nvSpPr>
        <p:spPr>
          <a:xfrm>
            <a:off x="91440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 – 3</a:t>
            </a:r>
            <a:endParaRPr lang="en-US" sz="1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around first.</a:t>
            </a:r>
            <a:endParaRPr lang="en-US" sz="4000" dirty="0"/>
          </a:p>
        </p:txBody>
      </p:sp>
      <p:sp>
        <p:nvSpPr>
          <p:cNvPr id="6" name="t16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need an account to browse. Sign up when you find something.</a:t>
            </a:r>
            <a:endParaRPr lang="en-US" sz="1700" dirty="0"/>
          </a:p>
        </p:txBody>
      </p:sp>
      <p:sp>
        <p:nvSpPr>
          <p:cNvPr id="7" name="t17"/>
          <p:cNvSpPr txBox="1"/>
          <p:nvPr/>
        </p:nvSpPr>
        <p:spPr>
          <a:xfrm>
            <a:off x="914400" y="2715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18"/>
          <p:cNvSpPr txBox="1"/>
          <p:nvPr/>
        </p:nvSpPr>
        <p:spPr>
          <a:xfrm>
            <a:off x="1783080" y="2697480"/>
            <a:ext cx="9494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800" dirty="0"/>
          </a:p>
        </p:txBody>
      </p:sp>
      <p:sp>
        <p:nvSpPr>
          <p:cNvPr id="9" name="t19"/>
          <p:cNvSpPr txBox="1"/>
          <p:nvPr/>
        </p:nvSpPr>
        <p:spPr>
          <a:xfrm>
            <a:off x="1783080" y="3081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name, or by what it is — "banana chips", "rattan", "honey".</a:t>
            </a:r>
            <a:endParaRPr lang="en-US" sz="1450" dirty="0"/>
          </a:p>
        </p:txBody>
      </p:sp>
      <p:sp>
        <p:nvSpPr>
          <p:cNvPr id="10" name="s20"/>
          <p:cNvSpPr/>
          <p:nvPr/>
        </p:nvSpPr>
        <p:spPr>
          <a:xfrm>
            <a:off x="914400" y="3666744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1" name="t21"/>
          <p:cNvSpPr txBox="1"/>
          <p:nvPr/>
        </p:nvSpPr>
        <p:spPr>
          <a:xfrm>
            <a:off x="914400" y="3767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22"/>
          <p:cNvSpPr txBox="1"/>
          <p:nvPr/>
        </p:nvSpPr>
        <p:spPr>
          <a:xfrm>
            <a:off x="1783080" y="3749040"/>
            <a:ext cx="9494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town</a:t>
            </a:r>
            <a:endParaRPr lang="en-US" sz="1800" dirty="0"/>
          </a:p>
        </p:txBody>
      </p:sp>
      <p:sp>
        <p:nvSpPr>
          <p:cNvPr id="13" name="t23"/>
          <p:cNvSpPr txBox="1"/>
          <p:nvPr/>
        </p:nvSpPr>
        <p:spPr>
          <a:xfrm>
            <a:off x="1783080" y="41330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municipality has its own page listing its shops and products.</a:t>
            </a:r>
            <a:endParaRPr lang="en-US" sz="1450" dirty="0"/>
          </a:p>
        </p:txBody>
      </p:sp>
      <p:sp>
        <p:nvSpPr>
          <p:cNvPr id="14" name="s24"/>
          <p:cNvSpPr/>
          <p:nvPr/>
        </p:nvSpPr>
        <p:spPr>
          <a:xfrm>
            <a:off x="914400" y="4718304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5" name="t25"/>
          <p:cNvSpPr txBox="1"/>
          <p:nvPr/>
        </p:nvSpPr>
        <p:spPr>
          <a:xfrm>
            <a:off x="914400" y="48188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26"/>
          <p:cNvSpPr txBox="1"/>
          <p:nvPr/>
        </p:nvSpPr>
        <p:spPr>
          <a:xfrm>
            <a:off x="1783080" y="4800600"/>
            <a:ext cx="9494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shop</a:t>
            </a:r>
            <a:endParaRPr lang="en-US" sz="1800" dirty="0"/>
          </a:p>
        </p:txBody>
      </p:sp>
      <p:sp>
        <p:nvSpPr>
          <p:cNvPr id="17" name="t27"/>
          <p:cNvSpPr txBox="1"/>
          <p:nvPr/>
        </p:nvSpPr>
        <p:spPr>
          <a:xfrm>
            <a:off x="1783080" y="5184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seller has a page of their own. Follow the ones you like.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account.</a:t>
            </a:r>
            <a:endParaRPr lang="en-US" sz="4000" dirty="0"/>
          </a:p>
        </p:txBody>
      </p:sp>
      <p:sp>
        <p:nvSpPr>
          <p:cNvPr id="6" name="t28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a minute. Your municipality is what makes local delivery work.</a:t>
            </a:r>
            <a:endParaRPr lang="en-US" sz="1700" dirty="0"/>
          </a:p>
        </p:txBody>
      </p:sp>
      <p:sp>
        <p:nvSpPr>
          <p:cNvPr id="7" name="t29"/>
          <p:cNvSpPr txBox="1"/>
          <p:nvPr/>
        </p:nvSpPr>
        <p:spPr>
          <a:xfrm>
            <a:off x="914400" y="26974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 password</a:t>
            </a:r>
            <a:endParaRPr lang="en-US" sz="1800" dirty="0"/>
          </a:p>
        </p:txBody>
      </p:sp>
      <p:sp>
        <p:nvSpPr>
          <p:cNvPr id="8" name="t30"/>
          <p:cNvSpPr txBox="1"/>
          <p:nvPr/>
        </p:nvSpPr>
        <p:spPr>
          <a:xfrm>
            <a:off x="914400" y="30632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continue with Google.</a:t>
            </a:r>
            <a:endParaRPr lang="en-US" sz="1450" dirty="0"/>
          </a:p>
        </p:txBody>
      </p:sp>
      <p:sp>
        <p:nvSpPr>
          <p:cNvPr id="9" name="s31"/>
          <p:cNvSpPr/>
          <p:nvPr/>
        </p:nvSpPr>
        <p:spPr>
          <a:xfrm>
            <a:off x="914400" y="3520440"/>
            <a:ext cx="530352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32"/>
          <p:cNvSpPr txBox="1"/>
          <p:nvPr/>
        </p:nvSpPr>
        <p:spPr>
          <a:xfrm>
            <a:off x="914400" y="365760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municipality</a:t>
            </a:r>
            <a:endParaRPr lang="en-US" sz="1800" dirty="0"/>
          </a:p>
        </p:txBody>
      </p:sp>
      <p:sp>
        <p:nvSpPr>
          <p:cNvPr id="11" name="t33"/>
          <p:cNvSpPr txBox="1"/>
          <p:nvPr/>
        </p:nvSpPr>
        <p:spPr>
          <a:xfrm>
            <a:off x="914400" y="40233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town you live in.</a:t>
            </a:r>
            <a:endParaRPr lang="en-US" sz="1450" dirty="0"/>
          </a:p>
        </p:txBody>
      </p:sp>
      <p:sp>
        <p:nvSpPr>
          <p:cNvPr id="12" name="s34"/>
          <p:cNvSpPr/>
          <p:nvPr/>
        </p:nvSpPr>
        <p:spPr>
          <a:xfrm>
            <a:off x="914400" y="4480560"/>
            <a:ext cx="530352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35"/>
          <p:cNvSpPr txBox="1"/>
          <p:nvPr/>
        </p:nvSpPr>
        <p:spPr>
          <a:xfrm>
            <a:off x="914400" y="46177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Barangay and street</a:t>
            </a:r>
            <a:endParaRPr lang="en-US" sz="1800" dirty="0"/>
          </a:p>
        </p:txBody>
      </p:sp>
      <p:sp>
        <p:nvSpPr>
          <p:cNvPr id="14" name="t36"/>
          <p:cNvSpPr txBox="1"/>
          <p:nvPr/>
        </p:nvSpPr>
        <p:spPr>
          <a:xfrm>
            <a:off x="914400" y="49834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delivery, and for matching your ID later.</a:t>
            </a:r>
            <a:endParaRPr lang="en-US" sz="1450" dirty="0"/>
          </a:p>
        </p:txBody>
      </p:sp>
      <p:sp>
        <p:nvSpPr>
          <p:cNvPr id="15" name="s37"/>
          <p:cNvSpPr/>
          <p:nvPr/>
        </p:nvSpPr>
        <p:spPr>
          <a:xfrm>
            <a:off x="7040880" y="2651760"/>
            <a:ext cx="4233672" cy="2880360"/>
          </a:xfrm>
          <a:prstGeom prst="roundRect">
            <a:avLst>
              <a:gd name="adj" fmla="val 507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6" name="t38"/>
          <p:cNvSpPr txBox="1"/>
          <p:nvPr/>
        </p:nvSpPr>
        <p:spPr>
          <a:xfrm>
            <a:off x="7406640" y="2971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PROVINCE</a:t>
            </a:r>
            <a:endParaRPr lang="en-US" sz="1050" dirty="0"/>
          </a:p>
        </p:txBody>
      </p:sp>
      <p:sp>
        <p:nvSpPr>
          <p:cNvPr id="17" name="s39"/>
          <p:cNvSpPr/>
          <p:nvPr/>
        </p:nvSpPr>
        <p:spPr>
          <a:xfrm>
            <a:off x="7406640" y="3246120"/>
            <a:ext cx="3502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40"/>
          <p:cNvSpPr txBox="1"/>
          <p:nvPr/>
        </p:nvSpPr>
        <p:spPr>
          <a:xfrm>
            <a:off x="7589520" y="3364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Oriental Mindoro</a:t>
            </a:r>
            <a:endParaRPr lang="en-US" sz="1350" dirty="0"/>
          </a:p>
        </p:txBody>
      </p:sp>
      <p:sp>
        <p:nvSpPr>
          <p:cNvPr id="19" name="t41"/>
          <p:cNvSpPr txBox="1"/>
          <p:nvPr/>
        </p:nvSpPr>
        <p:spPr>
          <a:xfrm>
            <a:off x="7406640" y="376732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Fixed. E-MOORM serves this province only.</a:t>
            </a:r>
            <a:endParaRPr lang="en-US" sz="1100" dirty="0"/>
          </a:p>
        </p:txBody>
      </p:sp>
      <p:sp>
        <p:nvSpPr>
          <p:cNvPr id="20" name="t42"/>
          <p:cNvSpPr txBox="1"/>
          <p:nvPr/>
        </p:nvSpPr>
        <p:spPr>
          <a:xfrm>
            <a:off x="7406640" y="4206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/ MUNICIPALITY</a:t>
            </a:r>
            <a:endParaRPr lang="en-US" sz="1050" dirty="0"/>
          </a:p>
        </p:txBody>
      </p:sp>
      <p:sp>
        <p:nvSpPr>
          <p:cNvPr id="21" name="s43"/>
          <p:cNvSpPr/>
          <p:nvPr/>
        </p:nvSpPr>
        <p:spPr>
          <a:xfrm>
            <a:off x="7406640" y="4480560"/>
            <a:ext cx="3502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29A366"/>
            </a:solidFill>
            <a:prstDash val="solid"/>
          </a:ln>
        </p:spPr>
      </p:sp>
      <p:sp>
        <p:nvSpPr>
          <p:cNvPr id="22" name="t44"/>
          <p:cNvSpPr txBox="1"/>
          <p:nvPr/>
        </p:nvSpPr>
        <p:spPr>
          <a:xfrm>
            <a:off x="7589520" y="4599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Calapan City</a:t>
            </a:r>
            <a:endParaRPr lang="en-US" sz="1350" dirty="0"/>
          </a:p>
        </p:txBody>
      </p:sp>
      <p:sp>
        <p:nvSpPr>
          <p:cNvPr id="23" name="t45"/>
          <p:cNvSpPr txBox="1"/>
          <p:nvPr/>
        </p:nvSpPr>
        <p:spPr>
          <a:xfrm>
            <a:off x="10515600" y="45902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100" dirty="0"/>
          </a:p>
        </p:txBody>
      </p:sp>
      <p:sp>
        <p:nvSpPr>
          <p:cNvPr id="24" name="t46"/>
          <p:cNvSpPr txBox="1"/>
          <p:nvPr/>
        </p:nvSpPr>
        <p:spPr>
          <a:xfrm>
            <a:off x="7406640" y="500176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the 15 towns.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once, before your first order.</a:t>
            </a:r>
            <a:endParaRPr lang="en-US" sz="4000" dirty="0"/>
          </a:p>
        </p:txBody>
      </p:sp>
      <p:sp>
        <p:nvSpPr>
          <p:cNvPr id="6" name="t47"/>
          <p:cNvSpPr txBox="1"/>
          <p:nvPr/>
        </p:nvSpPr>
        <p:spPr>
          <a:xfrm>
            <a:off x="1591056" y="171907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one-time check so sellers know their customers are real. Sellers go through the same thing.</a:t>
            </a:r>
            <a:endParaRPr lang="en-US" sz="1700" dirty="0"/>
          </a:p>
        </p:txBody>
      </p:sp>
      <p:sp>
        <p:nvSpPr>
          <p:cNvPr id="7" name="t48"/>
          <p:cNvSpPr txBox="1"/>
          <p:nvPr/>
        </p:nvSpPr>
        <p:spPr>
          <a:xfrm>
            <a:off x="914400" y="27432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UPLOAD</a:t>
            </a:r>
            <a:endParaRPr lang="en-US" sz="1150" dirty="0"/>
          </a:p>
        </p:txBody>
      </p:sp>
      <p:sp>
        <p:nvSpPr>
          <p:cNvPr id="8" name="t49"/>
          <p:cNvSpPr txBox="1"/>
          <p:nvPr/>
        </p:nvSpPr>
        <p:spPr>
          <a:xfrm>
            <a:off x="914400" y="30632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government ID, front and back.</a:t>
            </a:r>
            <a:endParaRPr lang="en-US" sz="1800" dirty="0"/>
          </a:p>
        </p:txBody>
      </p:sp>
      <p:sp>
        <p:nvSpPr>
          <p:cNvPr id="9" name="t50"/>
          <p:cNvSpPr txBox="1"/>
          <p:nvPr/>
        </p:nvSpPr>
        <p:spPr>
          <a:xfrm>
            <a:off x="914400" y="34747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read automatically and matched to your name and address. If that cannot decide, a municipal admin looks.</a:t>
            </a:r>
            <a:endParaRPr lang="en-US" sz="1450" dirty="0"/>
          </a:p>
        </p:txBody>
      </p:sp>
      <p:sp>
        <p:nvSpPr>
          <p:cNvPr id="10" name="s51"/>
          <p:cNvSpPr/>
          <p:nvPr/>
        </p:nvSpPr>
        <p:spPr>
          <a:xfrm>
            <a:off x="7040880" y="2834640"/>
            <a:ext cx="146304" cy="146304"/>
          </a:xfrm>
          <a:prstGeom prst="ellipse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1" name="t52"/>
          <p:cNvSpPr txBox="1"/>
          <p:nvPr/>
        </p:nvSpPr>
        <p:spPr>
          <a:xfrm>
            <a:off x="7333488" y="2743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verified</a:t>
            </a:r>
            <a:endParaRPr lang="en-US" sz="1600" dirty="0"/>
          </a:p>
        </p:txBody>
      </p:sp>
      <p:sp>
        <p:nvSpPr>
          <p:cNvPr id="12" name="t53"/>
          <p:cNvSpPr txBox="1"/>
          <p:nvPr/>
        </p:nvSpPr>
        <p:spPr>
          <a:xfrm>
            <a:off x="9144000" y="2761488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browse, but not check out.</a:t>
            </a:r>
            <a:endParaRPr lang="en-US" sz="1350" dirty="0"/>
          </a:p>
        </p:txBody>
      </p:sp>
      <p:sp>
        <p:nvSpPr>
          <p:cNvPr id="13" name="s54"/>
          <p:cNvSpPr/>
          <p:nvPr/>
        </p:nvSpPr>
        <p:spPr>
          <a:xfrm>
            <a:off x="7040880" y="3346704"/>
            <a:ext cx="4233672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4" name="s55"/>
          <p:cNvSpPr/>
          <p:nvPr/>
        </p:nvSpPr>
        <p:spPr>
          <a:xfrm>
            <a:off x="7040880" y="3547872"/>
            <a:ext cx="146304" cy="146304"/>
          </a:xfrm>
          <a:prstGeom prst="ellipse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5" name="t56"/>
          <p:cNvSpPr txBox="1"/>
          <p:nvPr/>
        </p:nvSpPr>
        <p:spPr>
          <a:xfrm>
            <a:off x="7333488" y="3456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600" dirty="0"/>
          </a:p>
        </p:txBody>
      </p:sp>
      <p:sp>
        <p:nvSpPr>
          <p:cNvPr id="16" name="t57"/>
          <p:cNvSpPr txBox="1"/>
          <p:nvPr/>
        </p:nvSpPr>
        <p:spPr>
          <a:xfrm>
            <a:off x="9144000" y="34747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checked.</a:t>
            </a:r>
            <a:endParaRPr lang="en-US" sz="1350" dirty="0"/>
          </a:p>
        </p:txBody>
      </p:sp>
      <p:sp>
        <p:nvSpPr>
          <p:cNvPr id="17" name="s58"/>
          <p:cNvSpPr/>
          <p:nvPr/>
        </p:nvSpPr>
        <p:spPr>
          <a:xfrm>
            <a:off x="7040880" y="4059936"/>
            <a:ext cx="4233672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8" name="s59"/>
          <p:cNvSpPr/>
          <p:nvPr/>
        </p:nvSpPr>
        <p:spPr>
          <a:xfrm>
            <a:off x="7040880" y="4261104"/>
            <a:ext cx="146304" cy="146304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19" name="t60"/>
          <p:cNvSpPr txBox="1"/>
          <p:nvPr/>
        </p:nvSpPr>
        <p:spPr>
          <a:xfrm>
            <a:off x="7333488" y="41696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600" dirty="0"/>
          </a:p>
        </p:txBody>
      </p:sp>
      <p:sp>
        <p:nvSpPr>
          <p:cNvPr id="20" name="t61"/>
          <p:cNvSpPr txBox="1"/>
          <p:nvPr/>
        </p:nvSpPr>
        <p:spPr>
          <a:xfrm>
            <a:off x="9144000" y="418795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Done. You never do this again.</a:t>
            </a:r>
            <a:endParaRPr lang="en-US" sz="1350" dirty="0"/>
          </a:p>
        </p:txBody>
      </p:sp>
      <p:sp>
        <p:nvSpPr>
          <p:cNvPr id="21" name="s62"/>
          <p:cNvSpPr/>
          <p:nvPr/>
        </p:nvSpPr>
        <p:spPr>
          <a:xfrm>
            <a:off x="7040880" y="4773168"/>
            <a:ext cx="4233672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2" name="s63"/>
          <p:cNvSpPr/>
          <p:nvPr/>
        </p:nvSpPr>
        <p:spPr>
          <a:xfrm>
            <a:off x="7040880" y="4974336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64"/>
          <p:cNvSpPr txBox="1"/>
          <p:nvPr/>
        </p:nvSpPr>
        <p:spPr>
          <a:xfrm>
            <a:off x="7333488" y="48828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600" dirty="0"/>
          </a:p>
        </p:txBody>
      </p:sp>
      <p:sp>
        <p:nvSpPr>
          <p:cNvPr id="24" name="t65"/>
          <p:cNvSpPr txBox="1"/>
          <p:nvPr/>
        </p:nvSpPr>
        <p:spPr>
          <a:xfrm>
            <a:off x="9144000" y="4901184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 clearer photo.</a:t>
            </a:r>
            <a:endParaRPr lang="en-US" sz="1350" dirty="0"/>
          </a:p>
        </p:txBody>
      </p:sp>
      <p:sp>
        <p:nvSpPr>
          <p:cNvPr id="25" name="s66"/>
          <p:cNvSpPr/>
          <p:nvPr/>
        </p:nvSpPr>
        <p:spPr>
          <a:xfrm>
            <a:off x="914400" y="5532120"/>
            <a:ext cx="10362895" cy="841248"/>
          </a:xfrm>
          <a:prstGeom prst="roundRect">
            <a:avLst>
              <a:gd name="adj" fmla="val 1739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6" name="t67"/>
          <p:cNvSpPr txBox="1"/>
          <p:nvPr/>
        </p:nvSpPr>
        <p:spPr>
          <a:xfrm>
            <a:off x="1280160" y="5687568"/>
            <a:ext cx="9631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five tries a day. Your ID is stored encrypted, and if it keeps failing, Help &amp; Support opens a case with your municipal admin.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 txBox="1"/>
          <p:nvPr/>
        </p:nvSpPr>
        <p:spPr>
          <a:xfrm>
            <a:off x="7498080" y="86868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C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000" dirty="0"/>
          </a:p>
        </p:txBody>
      </p:sp>
      <p:sp>
        <p:nvSpPr>
          <p:cNvPr id="3" name="!!kicker"/>
          <p:cNvSpPr txBox="1"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25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things.</a:t>
            </a:r>
            <a:endParaRPr lang="en-US" sz="5200" dirty="0"/>
          </a:p>
        </p:txBody>
      </p:sp>
      <p:sp>
        <p:nvSpPr>
          <p:cNvPr id="5" name="t68"/>
          <p:cNvSpPr txBox="1"/>
          <p:nvPr/>
        </p:nvSpPr>
        <p:spPr>
          <a:xfrm>
            <a:off x="91440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4 – 5</a:t>
            </a:r>
            <a:endParaRPr lang="en-US" sz="1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what you want.</a:t>
            </a:r>
            <a:endParaRPr lang="en-US" sz="4000" dirty="0"/>
          </a:p>
        </p:txBody>
      </p:sp>
      <p:sp>
        <p:nvSpPr>
          <p:cNvPr id="6" name="t69"/>
          <p:cNvSpPr txBox="1"/>
          <p:nvPr/>
        </p:nvSpPr>
        <p:spPr>
          <a:xfrm>
            <a:off x="914400" y="2240280"/>
            <a:ext cx="481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2100" dirty="0"/>
          </a:p>
        </p:txBody>
      </p:sp>
      <p:sp>
        <p:nvSpPr>
          <p:cNvPr id="7" name="t70"/>
          <p:cNvSpPr txBox="1"/>
          <p:nvPr/>
        </p:nvSpPr>
        <p:spPr>
          <a:xfrm>
            <a:off x="914400" y="2660904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product name or keyword, across every shop.</a:t>
            </a:r>
            <a:endParaRPr lang="en-US" sz="1500" dirty="0"/>
          </a:p>
        </p:txBody>
      </p:sp>
      <p:sp>
        <p:nvSpPr>
          <p:cNvPr id="8" name="s71"/>
          <p:cNvSpPr/>
          <p:nvPr/>
        </p:nvSpPr>
        <p:spPr>
          <a:xfrm>
            <a:off x="914400" y="3538728"/>
            <a:ext cx="481568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9" name="t72"/>
          <p:cNvSpPr txBox="1"/>
          <p:nvPr/>
        </p:nvSpPr>
        <p:spPr>
          <a:xfrm>
            <a:off x="6461608" y="2240280"/>
            <a:ext cx="481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2100" dirty="0"/>
          </a:p>
        </p:txBody>
      </p:sp>
      <p:sp>
        <p:nvSpPr>
          <p:cNvPr id="10" name="t73"/>
          <p:cNvSpPr txBox="1"/>
          <p:nvPr/>
        </p:nvSpPr>
        <p:spPr>
          <a:xfrm>
            <a:off x="6461608" y="2660904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town, category and price. Start with your own municipality for the fastest delivery.</a:t>
            </a:r>
            <a:endParaRPr lang="en-US" sz="1500" dirty="0"/>
          </a:p>
        </p:txBody>
      </p:sp>
      <p:sp>
        <p:nvSpPr>
          <p:cNvPr id="11" name="s74"/>
          <p:cNvSpPr/>
          <p:nvPr/>
        </p:nvSpPr>
        <p:spPr>
          <a:xfrm>
            <a:off x="6461608" y="3538728"/>
            <a:ext cx="481568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2" name="t75"/>
          <p:cNvSpPr txBox="1"/>
          <p:nvPr/>
        </p:nvSpPr>
        <p:spPr>
          <a:xfrm>
            <a:off x="914400" y="3840480"/>
            <a:ext cx="481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shops</a:t>
            </a:r>
            <a:endParaRPr lang="en-US" sz="2100" dirty="0"/>
          </a:p>
        </p:txBody>
      </p:sp>
      <p:sp>
        <p:nvSpPr>
          <p:cNvPr id="13" name="t76"/>
          <p:cNvSpPr txBox="1"/>
          <p:nvPr/>
        </p:nvSpPr>
        <p:spPr>
          <a:xfrm>
            <a:off x="914400" y="4261104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 seller and their new products and promotions reach your notifications.</a:t>
            </a:r>
            <a:endParaRPr lang="en-US" sz="1500" dirty="0"/>
          </a:p>
        </p:txBody>
      </p:sp>
      <p:sp>
        <p:nvSpPr>
          <p:cNvPr id="14" name="t77"/>
          <p:cNvSpPr txBox="1"/>
          <p:nvPr/>
        </p:nvSpPr>
        <p:spPr>
          <a:xfrm>
            <a:off x="6461608" y="3840480"/>
            <a:ext cx="481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Wishlist</a:t>
            </a:r>
            <a:endParaRPr lang="en-US" sz="2100" dirty="0"/>
          </a:p>
        </p:txBody>
      </p:sp>
      <p:sp>
        <p:nvSpPr>
          <p:cNvPr id="15" name="t78"/>
          <p:cNvSpPr txBox="1"/>
          <p:nvPr/>
        </p:nvSpPr>
        <p:spPr>
          <a:xfrm>
            <a:off x="6461608" y="4261104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heart on anything. It waits for you in your profile.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listing.</a:t>
            </a:r>
            <a:endParaRPr lang="en-US" sz="4000" dirty="0"/>
          </a:p>
        </p:txBody>
      </p:sp>
      <p:sp>
        <p:nvSpPr>
          <p:cNvPr id="6" name="t79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decide is on the page.</a:t>
            </a:r>
            <a:endParaRPr lang="en-US" sz="1700" dirty="0"/>
          </a:p>
        </p:txBody>
      </p:sp>
      <p:sp>
        <p:nvSpPr>
          <p:cNvPr id="7" name="t80"/>
          <p:cNvSpPr txBox="1"/>
          <p:nvPr/>
        </p:nvSpPr>
        <p:spPr>
          <a:xfrm>
            <a:off x="914400" y="274320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and price</a:t>
            </a:r>
            <a:endParaRPr lang="en-US" sz="1750" dirty="0"/>
          </a:p>
        </p:txBody>
      </p:sp>
      <p:sp>
        <p:nvSpPr>
          <p:cNvPr id="8" name="t81"/>
          <p:cNvSpPr txBox="1"/>
          <p:nvPr/>
        </p:nvSpPr>
        <p:spPr>
          <a:xfrm>
            <a:off x="914400" y="310896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photos from the seller. The price is the price.</a:t>
            </a:r>
            <a:endParaRPr lang="en-US" sz="1400" dirty="0"/>
          </a:p>
        </p:txBody>
      </p:sp>
      <p:sp>
        <p:nvSpPr>
          <p:cNvPr id="9" name="s82"/>
          <p:cNvSpPr/>
          <p:nvPr/>
        </p:nvSpPr>
        <p:spPr>
          <a:xfrm>
            <a:off x="914400" y="3931920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83"/>
          <p:cNvSpPr txBox="1"/>
          <p:nvPr/>
        </p:nvSpPr>
        <p:spPr>
          <a:xfrm>
            <a:off x="4521098" y="274320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and variations</a:t>
            </a:r>
            <a:endParaRPr lang="en-US" sz="1750" dirty="0"/>
          </a:p>
        </p:txBody>
      </p:sp>
      <p:sp>
        <p:nvSpPr>
          <p:cNvPr id="11" name="t84"/>
          <p:cNvSpPr txBox="1"/>
          <p:nvPr/>
        </p:nvSpPr>
        <p:spPr>
          <a:xfrm>
            <a:off x="4521098" y="310896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are left; sizes, colours or flavours if it has them.</a:t>
            </a:r>
            <a:endParaRPr lang="en-US" sz="1400" dirty="0"/>
          </a:p>
        </p:txBody>
      </p:sp>
      <p:sp>
        <p:nvSpPr>
          <p:cNvPr id="12" name="s85"/>
          <p:cNvSpPr/>
          <p:nvPr/>
        </p:nvSpPr>
        <p:spPr>
          <a:xfrm>
            <a:off x="4521098" y="3931920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86"/>
          <p:cNvSpPr txBox="1"/>
          <p:nvPr/>
        </p:nvSpPr>
        <p:spPr>
          <a:xfrm>
            <a:off x="8127797" y="274320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750" dirty="0"/>
          </a:p>
        </p:txBody>
      </p:sp>
      <p:sp>
        <p:nvSpPr>
          <p:cNvPr id="14" name="t87"/>
          <p:cNvSpPr txBox="1"/>
          <p:nvPr/>
        </p:nvSpPr>
        <p:spPr>
          <a:xfrm>
            <a:off x="8127797" y="310896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verified buyers who received it — often with their own photos.</a:t>
            </a:r>
            <a:endParaRPr lang="en-US" sz="1400" dirty="0"/>
          </a:p>
        </p:txBody>
      </p:sp>
      <p:sp>
        <p:nvSpPr>
          <p:cNvPr id="15" name="s88"/>
          <p:cNvSpPr/>
          <p:nvPr/>
        </p:nvSpPr>
        <p:spPr>
          <a:xfrm>
            <a:off x="8127797" y="3931920"/>
            <a:ext cx="314949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6" name="t89"/>
          <p:cNvSpPr txBox="1"/>
          <p:nvPr/>
        </p:nvSpPr>
        <p:spPr>
          <a:xfrm>
            <a:off x="914400" y="42519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seller</a:t>
            </a:r>
            <a:endParaRPr lang="en-US" sz="1750" dirty="0"/>
          </a:p>
        </p:txBody>
      </p:sp>
      <p:sp>
        <p:nvSpPr>
          <p:cNvPr id="17" name="t90"/>
          <p:cNvSpPr txBox="1"/>
          <p:nvPr/>
        </p:nvSpPr>
        <p:spPr>
          <a:xfrm>
            <a:off x="914400" y="461772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shop, their rating, their town. Message them before you buy.</a:t>
            </a:r>
            <a:endParaRPr lang="en-US" sz="1400" dirty="0"/>
          </a:p>
        </p:txBody>
      </p:sp>
      <p:sp>
        <p:nvSpPr>
          <p:cNvPr id="18" name="t91"/>
          <p:cNvSpPr txBox="1"/>
          <p:nvPr/>
        </p:nvSpPr>
        <p:spPr>
          <a:xfrm>
            <a:off x="4521098" y="42519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or pickup</a:t>
            </a:r>
            <a:endParaRPr lang="en-US" sz="1750" dirty="0"/>
          </a:p>
        </p:txBody>
      </p:sp>
      <p:sp>
        <p:nvSpPr>
          <p:cNvPr id="19" name="t92"/>
          <p:cNvSpPr txBox="1"/>
          <p:nvPr/>
        </p:nvSpPr>
        <p:spPr>
          <a:xfrm>
            <a:off x="4521098" y="461772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shop offers, and which towns it delivers to.</a:t>
            </a:r>
            <a:endParaRPr lang="en-US" sz="1400" dirty="0"/>
          </a:p>
        </p:txBody>
      </p:sp>
      <p:sp>
        <p:nvSpPr>
          <p:cNvPr id="20" name="t93"/>
          <p:cNvSpPr txBox="1"/>
          <p:nvPr/>
        </p:nvSpPr>
        <p:spPr>
          <a:xfrm>
            <a:off x="8127797" y="4251960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750" dirty="0"/>
          </a:p>
        </p:txBody>
      </p:sp>
      <p:sp>
        <p:nvSpPr>
          <p:cNvPr id="21" name="t94"/>
          <p:cNvSpPr txBox="1"/>
          <p:nvPr/>
        </p:nvSpPr>
        <p:spPr>
          <a:xfrm>
            <a:off x="8127797" y="461772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listing looks wrong, report it. Your municipal admin reviews it.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 txBox="1"/>
          <p:nvPr/>
        </p:nvSpPr>
        <p:spPr>
          <a:xfrm>
            <a:off x="7498080" y="86868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C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000" dirty="0"/>
          </a:p>
        </p:txBody>
      </p:sp>
      <p:sp>
        <p:nvSpPr>
          <p:cNvPr id="3" name="!!kicker"/>
          <p:cNvSpPr txBox="1"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25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Buying.</a:t>
            </a:r>
            <a:endParaRPr lang="en-US" sz="5200" dirty="0"/>
          </a:p>
        </p:txBody>
      </p:sp>
      <p:sp>
        <p:nvSpPr>
          <p:cNvPr id="5" name="t95"/>
          <p:cNvSpPr txBox="1"/>
          <p:nvPr/>
        </p:nvSpPr>
        <p:spPr>
          <a:xfrm>
            <a:off x="91440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6 – 9</a:t>
            </a:r>
            <a:endParaRPr lang="en-US" sz="1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then checkout.</a:t>
            </a:r>
            <a:endParaRPr lang="en-US" sz="4000" dirty="0"/>
          </a:p>
        </p:txBody>
      </p:sp>
      <p:sp>
        <p:nvSpPr>
          <p:cNvPr id="6" name="t96"/>
          <p:cNvSpPr txBox="1"/>
          <p:nvPr/>
        </p:nvSpPr>
        <p:spPr>
          <a:xfrm>
            <a:off x="914400" y="219456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2400" dirty="0"/>
          </a:p>
        </p:txBody>
      </p:sp>
      <p:sp>
        <p:nvSpPr>
          <p:cNvPr id="7" name="s97"/>
          <p:cNvSpPr/>
          <p:nvPr/>
        </p:nvSpPr>
        <p:spPr>
          <a:xfrm>
            <a:off x="914400" y="2697480"/>
            <a:ext cx="472424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8" name="t98"/>
          <p:cNvSpPr txBox="1"/>
          <p:nvPr/>
        </p:nvSpPr>
        <p:spPr>
          <a:xfrm>
            <a:off x="914400" y="28803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saved address, or add one</a:t>
            </a:r>
            <a:endParaRPr lang="en-US" sz="1550" dirty="0"/>
          </a:p>
        </p:txBody>
      </p:sp>
      <p:sp>
        <p:nvSpPr>
          <p:cNvPr id="9" name="t99"/>
          <p:cNvSpPr txBox="1"/>
          <p:nvPr/>
        </p:nvSpPr>
        <p:spPr>
          <a:xfrm>
            <a:off x="914400" y="3355848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 fee is shown before you pay</a:t>
            </a:r>
            <a:endParaRPr lang="en-US" sz="1550" dirty="0"/>
          </a:p>
        </p:txBody>
      </p:sp>
      <p:sp>
        <p:nvSpPr>
          <p:cNvPr id="10" name="t100"/>
          <p:cNvSpPr txBox="1"/>
          <p:nvPr/>
        </p:nvSpPr>
        <p:spPr>
          <a:xfrm>
            <a:off x="914400" y="3831336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over a set amount ship free</a:t>
            </a:r>
            <a:endParaRPr lang="en-US" sz="1550" dirty="0"/>
          </a:p>
        </p:txBody>
      </p:sp>
      <p:sp>
        <p:nvSpPr>
          <p:cNvPr id="11" name="t101"/>
          <p:cNvSpPr txBox="1"/>
          <p:nvPr/>
        </p:nvSpPr>
        <p:spPr>
          <a:xfrm>
            <a:off x="914400" y="4306824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shop delivers to every town</a:t>
            </a:r>
            <a:endParaRPr lang="en-US" sz="1550" dirty="0"/>
          </a:p>
        </p:txBody>
      </p:sp>
      <p:sp>
        <p:nvSpPr>
          <p:cNvPr id="12" name="t102"/>
          <p:cNvSpPr txBox="1"/>
          <p:nvPr/>
        </p:nvSpPr>
        <p:spPr>
          <a:xfrm>
            <a:off x="6370168" y="2194560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</a:t>
            </a:r>
            <a:endParaRPr lang="en-US" sz="2400" dirty="0"/>
          </a:p>
        </p:txBody>
      </p:sp>
      <p:sp>
        <p:nvSpPr>
          <p:cNvPr id="13" name="s103"/>
          <p:cNvSpPr/>
          <p:nvPr/>
        </p:nvSpPr>
        <p:spPr>
          <a:xfrm>
            <a:off x="6370168" y="2697480"/>
            <a:ext cx="472424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4" name="t104"/>
          <p:cNvSpPr txBox="1"/>
          <p:nvPr/>
        </p:nvSpPr>
        <p:spPr>
          <a:xfrm>
            <a:off x="6370168" y="28803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from the seller yourself</a:t>
            </a:r>
            <a:endParaRPr lang="en-US" sz="1550" dirty="0"/>
          </a:p>
        </p:txBody>
      </p:sp>
      <p:sp>
        <p:nvSpPr>
          <p:cNvPr id="15" name="t105"/>
          <p:cNvSpPr txBox="1"/>
          <p:nvPr/>
        </p:nvSpPr>
        <p:spPr>
          <a:xfrm>
            <a:off x="6370168" y="3355848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delivery fee</a:t>
            </a:r>
            <a:endParaRPr lang="en-US" sz="1550" dirty="0"/>
          </a:p>
        </p:txBody>
      </p:sp>
      <p:sp>
        <p:nvSpPr>
          <p:cNvPr id="16" name="t106"/>
          <p:cNvSpPr txBox="1"/>
          <p:nvPr/>
        </p:nvSpPr>
        <p:spPr>
          <a:xfrm>
            <a:off x="6370168" y="3831336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and instructions are on the order</a:t>
            </a:r>
            <a:endParaRPr lang="en-US" sz="1550" dirty="0"/>
          </a:p>
        </p:txBody>
      </p:sp>
      <p:sp>
        <p:nvSpPr>
          <p:cNvPr id="17" name="t107"/>
          <p:cNvSpPr txBox="1"/>
          <p:nvPr/>
        </p:nvSpPr>
        <p:spPr>
          <a:xfrm>
            <a:off x="6370168" y="4306824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told when it is ready</a:t>
            </a:r>
            <a:endParaRPr lang="en-US" sz="1550" dirty="0"/>
          </a:p>
        </p:txBody>
      </p:sp>
      <p:sp>
        <p:nvSpPr>
          <p:cNvPr id="18" name="s108"/>
          <p:cNvSpPr/>
          <p:nvPr/>
        </p:nvSpPr>
        <p:spPr>
          <a:xfrm>
            <a:off x="914400" y="5029200"/>
            <a:ext cx="10362895" cy="868680"/>
          </a:xfrm>
          <a:prstGeom prst="roundRect">
            <a:avLst>
              <a:gd name="adj" fmla="val 1684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9" name="t109"/>
          <p:cNvSpPr txBox="1"/>
          <p:nvPr/>
        </p:nvSpPr>
        <p:spPr>
          <a:xfrm>
            <a:off x="1325880" y="5230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voucher code?</a:t>
            </a:r>
            <a:endParaRPr lang="en-US" sz="1600" dirty="0"/>
          </a:p>
        </p:txBody>
      </p:sp>
      <p:sp>
        <p:nvSpPr>
          <p:cNvPr id="20" name="t110"/>
          <p:cNvSpPr txBox="1"/>
          <p:nvPr/>
        </p:nvSpPr>
        <p:spPr>
          <a:xfrm>
            <a:off x="1325880" y="5532120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it at checkout and the discount is applied before you pay.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way you like.</a:t>
            </a:r>
            <a:endParaRPr lang="en-US" sz="4000" dirty="0"/>
          </a:p>
        </p:txBody>
      </p:sp>
      <p:sp>
        <p:nvSpPr>
          <p:cNvPr id="6" name="t111"/>
          <p:cNvSpPr txBox="1"/>
          <p:nvPr/>
        </p:nvSpPr>
        <p:spPr>
          <a:xfrm>
            <a:off x="914400" y="22402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delivery</a:t>
            </a:r>
            <a:endParaRPr lang="en-US" sz="2100" dirty="0"/>
          </a:p>
        </p:txBody>
      </p:sp>
      <p:sp>
        <p:nvSpPr>
          <p:cNvPr id="7" name="t112"/>
          <p:cNvSpPr txBox="1"/>
          <p:nvPr/>
        </p:nvSpPr>
        <p:spPr>
          <a:xfrm>
            <a:off x="914400" y="269748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seller when the item is in your hands. Nothing to do at checkout.</a:t>
            </a:r>
            <a:endParaRPr lang="en-US" sz="1500" dirty="0"/>
          </a:p>
        </p:txBody>
      </p:sp>
      <p:sp>
        <p:nvSpPr>
          <p:cNvPr id="8" name="t113"/>
          <p:cNvSpPr txBox="1"/>
          <p:nvPr/>
        </p:nvSpPr>
        <p:spPr>
          <a:xfrm>
            <a:off x="4521098" y="22402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Ph</a:t>
            </a:r>
            <a:endParaRPr lang="en-US" sz="2100" dirty="0"/>
          </a:p>
        </p:txBody>
      </p:sp>
      <p:sp>
        <p:nvSpPr>
          <p:cNvPr id="9" name="t114"/>
          <p:cNvSpPr txBox="1"/>
          <p:nvPr/>
        </p:nvSpPr>
        <p:spPr>
          <a:xfrm>
            <a:off x="4521098" y="269748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seller’s code with GCash, Maya, or any bank app that supports QR Ph. Pay, then upload the screenshot.</a:t>
            </a:r>
            <a:endParaRPr lang="en-US" sz="1500" dirty="0"/>
          </a:p>
        </p:txBody>
      </p:sp>
      <p:sp>
        <p:nvSpPr>
          <p:cNvPr id="10" name="t115"/>
          <p:cNvSpPr txBox="1"/>
          <p:nvPr/>
        </p:nvSpPr>
        <p:spPr>
          <a:xfrm>
            <a:off x="8127797" y="22402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GCash QR</a:t>
            </a:r>
            <a:endParaRPr lang="en-US" sz="2100" dirty="0"/>
          </a:p>
        </p:txBody>
      </p:sp>
      <p:sp>
        <p:nvSpPr>
          <p:cNvPr id="11" name="t116"/>
          <p:cNvSpPr txBox="1"/>
          <p:nvPr/>
        </p:nvSpPr>
        <p:spPr>
          <a:xfrm>
            <a:off x="8127797" y="269748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QR Ph, for shops that show a GCash-only code.</a:t>
            </a:r>
            <a:endParaRPr lang="en-US" sz="1500" dirty="0"/>
          </a:p>
        </p:txBody>
      </p:sp>
      <p:sp>
        <p:nvSpPr>
          <p:cNvPr id="12" name="s117"/>
          <p:cNvSpPr/>
          <p:nvPr/>
        </p:nvSpPr>
        <p:spPr>
          <a:xfrm>
            <a:off x="914400" y="4160520"/>
            <a:ext cx="10362895" cy="1783080"/>
          </a:xfrm>
          <a:prstGeom prst="roundRect">
            <a:avLst>
              <a:gd name="adj" fmla="val 820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3" name="s118"/>
          <p:cNvSpPr/>
          <p:nvPr/>
        </p:nvSpPr>
        <p:spPr>
          <a:xfrm>
            <a:off x="1325880" y="4553712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119"/>
          <p:cNvSpPr txBox="1"/>
          <p:nvPr/>
        </p:nvSpPr>
        <p:spPr>
          <a:xfrm>
            <a:off x="1627632" y="44439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charged automatically.</a:t>
            </a:r>
            <a:endParaRPr lang="en-US" sz="1800" dirty="0"/>
          </a:p>
        </p:txBody>
      </p:sp>
      <p:sp>
        <p:nvSpPr>
          <p:cNvPr id="15" name="t120"/>
          <p:cNvSpPr txBox="1"/>
          <p:nvPr/>
        </p:nvSpPr>
        <p:spPr>
          <a:xfrm>
            <a:off x="1325880" y="4901184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the seller directly, in your own app. E-MOORM never holds your money — it only sees the screenshot you upload, which the seller confirms before your order moves on.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it.</a:t>
            </a:r>
            <a:endParaRPr lang="en-US" sz="4000" dirty="0"/>
          </a:p>
        </p:txBody>
      </p:sp>
      <p:sp>
        <p:nvSpPr>
          <p:cNvPr id="6" name="t121"/>
          <p:cNvSpPr txBox="1"/>
          <p:nvPr/>
        </p:nvSpPr>
        <p:spPr>
          <a:xfrm>
            <a:off x="1591056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is set by the seller. You see exactly what they set.</a:t>
            </a:r>
            <a:endParaRPr lang="en-US" sz="1700" dirty="0"/>
          </a:p>
        </p:txBody>
      </p:sp>
      <p:sp>
        <p:nvSpPr>
          <p:cNvPr id="7" name="s122"/>
          <p:cNvSpPr/>
          <p:nvPr/>
        </p:nvSpPr>
        <p:spPr>
          <a:xfrm>
            <a:off x="1042416" y="3017520"/>
            <a:ext cx="10106863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8" name="s123"/>
          <p:cNvSpPr/>
          <p:nvPr/>
        </p:nvSpPr>
        <p:spPr>
          <a:xfrm>
            <a:off x="932688" y="29077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  <a:prstDash val="solid"/>
          </a:ln>
        </p:spPr>
      </p:sp>
      <p:sp>
        <p:nvSpPr>
          <p:cNvPr id="9" name="t124"/>
          <p:cNvSpPr txBox="1"/>
          <p:nvPr/>
        </p:nvSpPr>
        <p:spPr>
          <a:xfrm>
            <a:off x="914400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700" dirty="0"/>
          </a:p>
        </p:txBody>
      </p:sp>
      <p:sp>
        <p:nvSpPr>
          <p:cNvPr id="10" name="t125"/>
          <p:cNvSpPr txBox="1"/>
          <p:nvPr/>
        </p:nvSpPr>
        <p:spPr>
          <a:xfrm>
            <a:off x="914400" y="363931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accepted yet</a:t>
            </a:r>
            <a:endParaRPr lang="en-US" sz="1350" dirty="0"/>
          </a:p>
        </p:txBody>
      </p:sp>
      <p:sp>
        <p:nvSpPr>
          <p:cNvPr id="11" name="s126"/>
          <p:cNvSpPr/>
          <p:nvPr/>
        </p:nvSpPr>
        <p:spPr>
          <a:xfrm>
            <a:off x="3005267" y="29077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  <a:prstDash val="solid"/>
          </a:ln>
        </p:spPr>
      </p:sp>
      <p:sp>
        <p:nvSpPr>
          <p:cNvPr id="12" name="t127"/>
          <p:cNvSpPr txBox="1"/>
          <p:nvPr/>
        </p:nvSpPr>
        <p:spPr>
          <a:xfrm>
            <a:off x="2986979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700" dirty="0"/>
          </a:p>
        </p:txBody>
      </p:sp>
      <p:sp>
        <p:nvSpPr>
          <p:cNvPr id="13" name="t128"/>
          <p:cNvSpPr txBox="1"/>
          <p:nvPr/>
        </p:nvSpPr>
        <p:spPr>
          <a:xfrm>
            <a:off x="2986979" y="363931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accepted it</a:t>
            </a:r>
            <a:endParaRPr lang="en-US" sz="1350" dirty="0"/>
          </a:p>
        </p:txBody>
      </p:sp>
      <p:sp>
        <p:nvSpPr>
          <p:cNvPr id="14" name="s129"/>
          <p:cNvSpPr/>
          <p:nvPr/>
        </p:nvSpPr>
        <p:spPr>
          <a:xfrm>
            <a:off x="5077846" y="29077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  <a:prstDash val="solid"/>
          </a:ln>
        </p:spPr>
      </p:sp>
      <p:sp>
        <p:nvSpPr>
          <p:cNvPr id="15" name="t130"/>
          <p:cNvSpPr txBox="1"/>
          <p:nvPr/>
        </p:nvSpPr>
        <p:spPr>
          <a:xfrm>
            <a:off x="5059558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</a:t>
            </a:r>
            <a:endParaRPr lang="en-US" sz="1700" dirty="0"/>
          </a:p>
        </p:txBody>
      </p:sp>
      <p:sp>
        <p:nvSpPr>
          <p:cNvPr id="16" name="t131"/>
          <p:cNvSpPr txBox="1"/>
          <p:nvPr/>
        </p:nvSpPr>
        <p:spPr>
          <a:xfrm>
            <a:off x="5059558" y="363931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packed</a:t>
            </a:r>
            <a:endParaRPr lang="en-US" sz="1350" dirty="0"/>
          </a:p>
        </p:txBody>
      </p:sp>
      <p:sp>
        <p:nvSpPr>
          <p:cNvPr id="17" name="s132"/>
          <p:cNvSpPr/>
          <p:nvPr/>
        </p:nvSpPr>
        <p:spPr>
          <a:xfrm>
            <a:off x="7150425" y="29077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  <a:prstDash val="solid"/>
          </a:ln>
        </p:spPr>
      </p:sp>
      <p:sp>
        <p:nvSpPr>
          <p:cNvPr id="18" name="t133"/>
          <p:cNvSpPr txBox="1"/>
          <p:nvPr/>
        </p:nvSpPr>
        <p:spPr>
          <a:xfrm>
            <a:off x="7132137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700" dirty="0"/>
          </a:p>
        </p:txBody>
      </p:sp>
      <p:sp>
        <p:nvSpPr>
          <p:cNvPr id="19" name="t134"/>
          <p:cNvSpPr txBox="1"/>
          <p:nvPr/>
        </p:nvSpPr>
        <p:spPr>
          <a:xfrm>
            <a:off x="7132137" y="363931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ship, or for pickup</a:t>
            </a:r>
            <a:endParaRPr lang="en-US" sz="1350" dirty="0"/>
          </a:p>
        </p:txBody>
      </p:sp>
      <p:sp>
        <p:nvSpPr>
          <p:cNvPr id="20" name="s135"/>
          <p:cNvSpPr/>
          <p:nvPr/>
        </p:nvSpPr>
        <p:spPr>
          <a:xfrm>
            <a:off x="9223004" y="2907792"/>
            <a:ext cx="219456" cy="219456"/>
          </a:xfrm>
          <a:prstGeom prst="ellipse">
            <a:avLst/>
          </a:prstGeom>
          <a:solidFill>
            <a:srgbClr val="29A366"/>
          </a:solidFill>
          <a:ln w="19050">
            <a:solidFill>
              <a:srgbClr val="29A366"/>
            </a:solidFill>
            <a:prstDash val="solid"/>
          </a:ln>
        </p:spPr>
      </p:sp>
      <p:sp>
        <p:nvSpPr>
          <p:cNvPr id="21" name="t136"/>
          <p:cNvSpPr txBox="1"/>
          <p:nvPr/>
        </p:nvSpPr>
        <p:spPr>
          <a:xfrm>
            <a:off x="9204716" y="3310128"/>
            <a:ext cx="1889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700" dirty="0"/>
          </a:p>
        </p:txBody>
      </p:sp>
      <p:sp>
        <p:nvSpPr>
          <p:cNvPr id="22" name="t137"/>
          <p:cNvSpPr txBox="1"/>
          <p:nvPr/>
        </p:nvSpPr>
        <p:spPr>
          <a:xfrm>
            <a:off x="9204716" y="3639312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it</a:t>
            </a:r>
            <a:endParaRPr lang="en-US" sz="1350" dirty="0"/>
          </a:p>
        </p:txBody>
      </p:sp>
      <p:sp>
        <p:nvSpPr>
          <p:cNvPr id="23" name="t138"/>
          <p:cNvSpPr txBox="1"/>
          <p:nvPr/>
        </p:nvSpPr>
        <p:spPr>
          <a:xfrm>
            <a:off x="914400" y="4526280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your mind?</a:t>
            </a:r>
            <a:endParaRPr lang="en-US" sz="1750" dirty="0"/>
          </a:p>
        </p:txBody>
      </p:sp>
      <p:sp>
        <p:nvSpPr>
          <p:cNvPr id="24" name="t139"/>
          <p:cNvSpPr txBox="1"/>
          <p:nvPr/>
        </p:nvSpPr>
        <p:spPr>
          <a:xfrm>
            <a:off x="914400" y="4910328"/>
            <a:ext cx="463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cancel while the order is still pending. After the seller confirms it, ask them through Messages.</a:t>
            </a:r>
            <a:endParaRPr lang="en-US" sz="1450" dirty="0"/>
          </a:p>
        </p:txBody>
      </p:sp>
      <p:sp>
        <p:nvSpPr>
          <p:cNvPr id="25" name="t140"/>
          <p:cNvSpPr txBox="1"/>
          <p:nvPr/>
        </p:nvSpPr>
        <p:spPr>
          <a:xfrm>
            <a:off x="6324448" y="4526280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orders</a:t>
            </a:r>
            <a:endParaRPr lang="en-US" sz="1750" dirty="0"/>
          </a:p>
        </p:txBody>
      </p:sp>
      <p:sp>
        <p:nvSpPr>
          <p:cNvPr id="26" name="t141"/>
          <p:cNvSpPr txBox="1"/>
          <p:nvPr/>
        </p:nvSpPr>
        <p:spPr>
          <a:xfrm>
            <a:off x="6324448" y="4910328"/>
            <a:ext cx="463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from Ready to Out for delivery. Pickup orders show Ready for pickup instead.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payment proof is rejected.</a:t>
            </a:r>
            <a:endParaRPr lang="en-US" sz="4000" dirty="0"/>
          </a:p>
        </p:txBody>
      </p:sp>
      <p:sp>
        <p:nvSpPr>
          <p:cNvPr id="6" name="t142"/>
          <p:cNvSpPr txBox="1"/>
          <p:nvPr/>
        </p:nvSpPr>
        <p:spPr>
          <a:xfrm>
            <a:off x="1591056" y="171907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happens — a blurry screenshot, the wrong amount, a transfer that had not gone through yet.</a:t>
            </a:r>
            <a:endParaRPr lang="en-US" sz="1700" dirty="0"/>
          </a:p>
        </p:txBody>
      </p:sp>
      <p:sp>
        <p:nvSpPr>
          <p:cNvPr id="7" name="s143"/>
          <p:cNvSpPr/>
          <p:nvPr/>
        </p:nvSpPr>
        <p:spPr>
          <a:xfrm>
            <a:off x="914400" y="2880360"/>
            <a:ext cx="10362895" cy="1600200"/>
          </a:xfrm>
          <a:prstGeom prst="roundRect">
            <a:avLst>
              <a:gd name="adj" fmla="val 914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s144"/>
          <p:cNvSpPr/>
          <p:nvPr/>
        </p:nvSpPr>
        <p:spPr>
          <a:xfrm>
            <a:off x="1325880" y="3273552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145"/>
          <p:cNvSpPr txBox="1"/>
          <p:nvPr/>
        </p:nvSpPr>
        <p:spPr>
          <a:xfrm>
            <a:off x="1627632" y="31638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order is not cancelled.</a:t>
            </a:r>
            <a:endParaRPr lang="en-US" sz="1800" dirty="0"/>
          </a:p>
        </p:txBody>
      </p:sp>
      <p:sp>
        <p:nvSpPr>
          <p:cNvPr id="10" name="t146"/>
          <p:cNvSpPr txBox="1"/>
          <p:nvPr/>
        </p:nvSpPr>
        <p:spPr>
          <a:xfrm>
            <a:off x="1325880" y="3602736"/>
            <a:ext cx="9539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stays open and your items stay reserved. In My Orders it reads "Proof rejected — resubmit": upload a new screenshot and the seller checks again.</a:t>
            </a:r>
            <a:endParaRPr lang="en-US" sz="1450" dirty="0"/>
          </a:p>
        </p:txBody>
      </p:sp>
      <p:sp>
        <p:nvSpPr>
          <p:cNvPr id="11" name="t147"/>
          <p:cNvSpPr txBox="1"/>
          <p:nvPr/>
        </p:nvSpPr>
        <p:spPr>
          <a:xfrm>
            <a:off x="914400" y="4754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amount and the account first</a:t>
            </a:r>
            <a:endParaRPr lang="en-US" sz="1500" dirty="0"/>
          </a:p>
        </p:txBody>
      </p:sp>
      <p:sp>
        <p:nvSpPr>
          <p:cNvPr id="12" name="t148"/>
          <p:cNvSpPr txBox="1"/>
          <p:nvPr/>
        </p:nvSpPr>
        <p:spPr>
          <a:xfrm>
            <a:off x="5303520" y="4773168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rejections are a screenshot of the wrong transfer.</a:t>
            </a:r>
            <a:endParaRPr lang="en-US" sz="1400" dirty="0"/>
          </a:p>
        </p:txBody>
      </p:sp>
      <p:sp>
        <p:nvSpPr>
          <p:cNvPr id="13" name="t149"/>
          <p:cNvSpPr txBox="1"/>
          <p:nvPr/>
        </p:nvSpPr>
        <p:spPr>
          <a:xfrm>
            <a:off x="914400" y="5321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pay twice</a:t>
            </a:r>
            <a:endParaRPr lang="en-US" sz="1500" dirty="0"/>
          </a:p>
        </p:txBody>
      </p:sp>
      <p:sp>
        <p:nvSpPr>
          <p:cNvPr id="14" name="t150"/>
          <p:cNvSpPr txBox="1"/>
          <p:nvPr/>
        </p:nvSpPr>
        <p:spPr>
          <a:xfrm>
            <a:off x="5303520" y="5340096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money left your account, upload that proof — do not send it again.</a:t>
            </a:r>
            <a:endParaRPr lang="en-US" sz="1400" dirty="0"/>
          </a:p>
        </p:txBody>
      </p:sp>
      <p:sp>
        <p:nvSpPr>
          <p:cNvPr id="15" name="t151"/>
          <p:cNvSpPr txBox="1"/>
          <p:nvPr/>
        </p:nvSpPr>
        <p:spPr>
          <a:xfrm>
            <a:off x="914400" y="5888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expires if you do nothing</a:t>
            </a:r>
            <a:endParaRPr lang="en-US" sz="1500" dirty="0"/>
          </a:p>
        </p:txBody>
      </p:sp>
      <p:sp>
        <p:nvSpPr>
          <p:cNvPr id="16" name="t152"/>
          <p:cNvSpPr txBox="1"/>
          <p:nvPr/>
        </p:nvSpPr>
        <p:spPr>
          <a:xfrm>
            <a:off x="5303520" y="5907024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 left without a new proof closes on its own and the stock goes back.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num"/>
          <p:cNvSpPr txBox="1"/>
          <p:nvPr/>
        </p:nvSpPr>
        <p:spPr>
          <a:xfrm>
            <a:off x="7498080" y="868680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C2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3000" dirty="0"/>
          </a:p>
        </p:txBody>
      </p:sp>
      <p:sp>
        <p:nvSpPr>
          <p:cNvPr id="3" name="!!kicker"/>
          <p:cNvSpPr txBox="1"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250" dirty="0"/>
          </a:p>
        </p:txBody>
      </p:sp>
      <p:sp>
        <p:nvSpPr>
          <p:cNvPr id="4" name="!!title"/>
          <p:cNvSpPr txBox="1"/>
          <p:nvPr/>
        </p:nvSpPr>
        <p:spPr>
          <a:xfrm>
            <a:off x="91440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delivery.</a:t>
            </a:r>
            <a:endParaRPr lang="en-US" sz="5200" dirty="0"/>
          </a:p>
        </p:txBody>
      </p:sp>
      <p:sp>
        <p:nvSpPr>
          <p:cNvPr id="5" name="t153"/>
          <p:cNvSpPr txBox="1"/>
          <p:nvPr/>
        </p:nvSpPr>
        <p:spPr>
          <a:xfrm>
            <a:off x="91440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10 – 12</a:t>
            </a:r>
            <a:endParaRPr lang="en-US" sz="18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Received? Say so.</a:t>
            </a:r>
            <a:endParaRPr lang="en-US" sz="4000" dirty="0"/>
          </a:p>
        </p:txBody>
      </p:sp>
      <p:sp>
        <p:nvSpPr>
          <p:cNvPr id="6" name="t154"/>
          <p:cNvSpPr txBox="1"/>
          <p:nvPr/>
        </p:nvSpPr>
        <p:spPr>
          <a:xfrm>
            <a:off x="914400" y="2194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seller completes the order, you are invited to rate it. A line or two and a photo takes a minute, and it is what the next buyer will read.</a:t>
            </a:r>
            <a:endParaRPr lang="en-US" sz="1600" dirty="0"/>
          </a:p>
        </p:txBody>
      </p:sp>
      <p:sp>
        <p:nvSpPr>
          <p:cNvPr id="7" name="t155"/>
          <p:cNvSpPr txBox="1"/>
          <p:nvPr/>
        </p:nvSpPr>
        <p:spPr>
          <a:xfrm>
            <a:off x="91440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you actually got: quality, size, whether it matched the photos.</a:t>
            </a:r>
            <a:endParaRPr lang="en-US" sz="1450" dirty="0"/>
          </a:p>
        </p:txBody>
      </p:sp>
      <p:sp>
        <p:nvSpPr>
          <p:cNvPr id="8" name="s156"/>
          <p:cNvSpPr/>
          <p:nvPr/>
        </p:nvSpPr>
        <p:spPr>
          <a:xfrm>
            <a:off x="914400" y="4050792"/>
            <a:ext cx="566928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9" name="t157"/>
          <p:cNvSpPr txBox="1"/>
          <p:nvPr/>
        </p:nvSpPr>
        <p:spPr>
          <a:xfrm>
            <a:off x="914400" y="4206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photo of the real thing is worth more than the stars.</a:t>
            </a:r>
            <a:endParaRPr lang="en-US" sz="1450" dirty="0"/>
          </a:p>
        </p:txBody>
      </p:sp>
      <p:sp>
        <p:nvSpPr>
          <p:cNvPr id="10" name="s158"/>
          <p:cNvSpPr/>
          <p:nvPr/>
        </p:nvSpPr>
        <p:spPr>
          <a:xfrm>
            <a:off x="914400" y="4828032"/>
            <a:ext cx="5669280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1" name="t159"/>
          <p:cNvSpPr txBox="1"/>
          <p:nvPr/>
        </p:nvSpPr>
        <p:spPr>
          <a:xfrm>
            <a:off x="914400" y="4983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fair. Sellers read these, and good ones fix things.</a:t>
            </a:r>
            <a:endParaRPr lang="en-US" sz="1450" dirty="0"/>
          </a:p>
        </p:txBody>
      </p:sp>
      <p:sp>
        <p:nvSpPr>
          <p:cNvPr id="12" name="s160"/>
          <p:cNvSpPr/>
          <p:nvPr/>
        </p:nvSpPr>
        <p:spPr>
          <a:xfrm>
            <a:off x="7223760" y="2194560"/>
            <a:ext cx="4050792" cy="3108960"/>
          </a:xfrm>
          <a:prstGeom prst="roundRect">
            <a:avLst>
              <a:gd name="adj" fmla="val 470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3" name="t161"/>
          <p:cNvSpPr txBox="1"/>
          <p:nvPr/>
        </p:nvSpPr>
        <p:spPr>
          <a:xfrm>
            <a:off x="758952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30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2800" dirty="0"/>
          </a:p>
        </p:txBody>
      </p:sp>
      <p:sp>
        <p:nvSpPr>
          <p:cNvPr id="14" name="t162"/>
          <p:cNvSpPr txBox="1"/>
          <p:nvPr/>
        </p:nvSpPr>
        <p:spPr>
          <a:xfrm>
            <a:off x="758952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buyers who received the item can review.</a:t>
            </a:r>
            <a:endParaRPr lang="en-US" sz="1800" dirty="0"/>
          </a:p>
        </p:txBody>
      </p:sp>
      <p:sp>
        <p:nvSpPr>
          <p:cNvPr id="15" name="t163"/>
          <p:cNvSpPr txBox="1"/>
          <p:nvPr/>
        </p:nvSpPr>
        <p:spPr>
          <a:xfrm>
            <a:off x="7589520" y="4160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every rating you read came from a real order.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and refunds.</a:t>
            </a:r>
            <a:endParaRPr lang="en-US" sz="4000" dirty="0"/>
          </a:p>
        </p:txBody>
      </p:sp>
      <p:sp>
        <p:nvSpPr>
          <p:cNvPr id="6" name="t164"/>
          <p:cNvSpPr txBox="1"/>
          <p:nvPr/>
        </p:nvSpPr>
        <p:spPr>
          <a:xfrm>
            <a:off x="914400" y="219456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165"/>
          <p:cNvSpPr txBox="1"/>
          <p:nvPr/>
        </p:nvSpPr>
        <p:spPr>
          <a:xfrm>
            <a:off x="914400" y="2743200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</a:t>
            </a:r>
            <a:endParaRPr lang="en-US" sz="1700" dirty="0"/>
          </a:p>
        </p:txBody>
      </p:sp>
      <p:sp>
        <p:nvSpPr>
          <p:cNvPr id="8" name="t166"/>
          <p:cNvSpPr txBox="1"/>
          <p:nvPr/>
        </p:nvSpPr>
        <p:spPr>
          <a:xfrm>
            <a:off x="914400" y="3127248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return request from the order and say what went wrong.</a:t>
            </a:r>
            <a:endParaRPr lang="en-US" sz="1400" dirty="0"/>
          </a:p>
        </p:txBody>
      </p:sp>
      <p:sp>
        <p:nvSpPr>
          <p:cNvPr id="9" name="t167"/>
          <p:cNvSpPr txBox="1"/>
          <p:nvPr/>
        </p:nvSpPr>
        <p:spPr>
          <a:xfrm>
            <a:off x="3573704" y="219456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168"/>
          <p:cNvSpPr txBox="1"/>
          <p:nvPr/>
        </p:nvSpPr>
        <p:spPr>
          <a:xfrm>
            <a:off x="3573704" y="2743200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seller decides</a:t>
            </a:r>
            <a:endParaRPr lang="en-US" sz="1700" dirty="0"/>
          </a:p>
        </p:txBody>
      </p:sp>
      <p:sp>
        <p:nvSpPr>
          <p:cNvPr id="11" name="t169"/>
          <p:cNvSpPr txBox="1"/>
          <p:nvPr/>
        </p:nvSpPr>
        <p:spPr>
          <a:xfrm>
            <a:off x="3573704" y="3127248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approve it, or decline with a reason.</a:t>
            </a:r>
            <a:endParaRPr lang="en-US" sz="1400" dirty="0"/>
          </a:p>
        </p:txBody>
      </p:sp>
      <p:sp>
        <p:nvSpPr>
          <p:cNvPr id="12" name="t170"/>
          <p:cNvSpPr txBox="1"/>
          <p:nvPr/>
        </p:nvSpPr>
        <p:spPr>
          <a:xfrm>
            <a:off x="6233008" y="219456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171"/>
          <p:cNvSpPr txBox="1"/>
          <p:nvPr/>
        </p:nvSpPr>
        <p:spPr>
          <a:xfrm>
            <a:off x="6233008" y="2743200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it back</a:t>
            </a:r>
            <a:endParaRPr lang="en-US" sz="1700" dirty="0"/>
          </a:p>
        </p:txBody>
      </p:sp>
      <p:sp>
        <p:nvSpPr>
          <p:cNvPr id="14" name="t172"/>
          <p:cNvSpPr txBox="1"/>
          <p:nvPr/>
        </p:nvSpPr>
        <p:spPr>
          <a:xfrm>
            <a:off x="6233008" y="3127248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approved, return the item. The seller confirms when it arrives.</a:t>
            </a:r>
            <a:endParaRPr lang="en-US" sz="1400" dirty="0"/>
          </a:p>
        </p:txBody>
      </p:sp>
      <p:sp>
        <p:nvSpPr>
          <p:cNvPr id="15" name="t173"/>
          <p:cNvSpPr txBox="1"/>
          <p:nvPr/>
        </p:nvSpPr>
        <p:spPr>
          <a:xfrm>
            <a:off x="8892311" y="219456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174"/>
          <p:cNvSpPr txBox="1"/>
          <p:nvPr/>
        </p:nvSpPr>
        <p:spPr>
          <a:xfrm>
            <a:off x="8892311" y="2743200"/>
            <a:ext cx="238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confirmed</a:t>
            </a:r>
            <a:endParaRPr lang="en-US" sz="1700" dirty="0"/>
          </a:p>
        </p:txBody>
      </p:sp>
      <p:sp>
        <p:nvSpPr>
          <p:cNvPr id="17" name="t175"/>
          <p:cNvSpPr txBox="1"/>
          <p:nvPr/>
        </p:nvSpPr>
        <p:spPr>
          <a:xfrm>
            <a:off x="8892311" y="3127248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seller returns your money and records it on the order.</a:t>
            </a:r>
            <a:endParaRPr lang="en-US" sz="1400" dirty="0"/>
          </a:p>
        </p:txBody>
      </p:sp>
      <p:sp>
        <p:nvSpPr>
          <p:cNvPr id="18" name="s176"/>
          <p:cNvSpPr/>
          <p:nvPr/>
        </p:nvSpPr>
        <p:spPr>
          <a:xfrm>
            <a:off x="914400" y="4343400"/>
            <a:ext cx="10362895" cy="155448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9" name="t177"/>
          <p:cNvSpPr txBox="1"/>
          <p:nvPr/>
        </p:nvSpPr>
        <p:spPr>
          <a:xfrm>
            <a:off x="1325880" y="4617720"/>
            <a:ext cx="9539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the seller first.</a:t>
            </a:r>
            <a:endParaRPr lang="en-US" sz="1800" dirty="0"/>
          </a:p>
        </p:txBody>
      </p:sp>
      <p:sp>
        <p:nvSpPr>
          <p:cNvPr id="20" name="t178"/>
          <p:cNvSpPr txBox="1"/>
          <p:nvPr/>
        </p:nvSpPr>
        <p:spPr>
          <a:xfrm>
            <a:off x="1325880" y="5029200"/>
            <a:ext cx="9539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problems are sorted in Messages before a return is needed. If they are not, the return request keeps a record both of you can see — and if it still goes wrong, your municipal admin can step in.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adge"/>
          <p:cNvSpPr/>
          <p:nvPr/>
        </p:nvSpPr>
        <p:spPr>
          <a:xfrm>
            <a:off x="914400" y="896112"/>
            <a:ext cx="475488" cy="475488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badge-num"/>
          <p:cNvSpPr txBox="1"/>
          <p:nvPr/>
        </p:nvSpPr>
        <p:spPr>
          <a:xfrm>
            <a:off x="91440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!!kicker"/>
          <p:cNvSpPr txBox="1"/>
          <p:nvPr/>
        </p:nvSpPr>
        <p:spPr>
          <a:xfrm>
            <a:off x="1591056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12 OF 12</a:t>
            </a:r>
            <a:endParaRPr lang="en-US" sz="1200" dirty="0"/>
          </a:p>
        </p:txBody>
      </p:sp>
      <p:sp>
        <p:nvSpPr>
          <p:cNvPr id="5" name="!!title"/>
          <p:cNvSpPr txBox="1"/>
          <p:nvPr/>
        </p:nvSpPr>
        <p:spPr>
          <a:xfrm>
            <a:off x="1591056" y="914400"/>
            <a:ext cx="96862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a person.</a:t>
            </a:r>
            <a:endParaRPr lang="en-US" sz="4000" dirty="0"/>
          </a:p>
        </p:txBody>
      </p:sp>
      <p:sp>
        <p:nvSpPr>
          <p:cNvPr id="6" name="t179"/>
          <p:cNvSpPr txBox="1"/>
          <p:nvPr/>
        </p:nvSpPr>
        <p:spPr>
          <a:xfrm>
            <a:off x="914400" y="22402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&amp; Support</a:t>
            </a:r>
            <a:endParaRPr lang="en-US" sz="2100" dirty="0"/>
          </a:p>
        </p:txBody>
      </p:sp>
      <p:sp>
        <p:nvSpPr>
          <p:cNvPr id="7" name="t180"/>
          <p:cNvSpPr txBox="1"/>
          <p:nvPr/>
        </p:nvSpPr>
        <p:spPr>
          <a:xfrm>
            <a:off x="914400" y="2697480"/>
            <a:ext cx="30885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to the common questions, and a form that opens a case with the admin for your own town — not a call centre.</a:t>
            </a:r>
            <a:endParaRPr lang="en-US" sz="1500" dirty="0"/>
          </a:p>
        </p:txBody>
      </p:sp>
      <p:sp>
        <p:nvSpPr>
          <p:cNvPr id="8" name="t181"/>
          <p:cNvSpPr txBox="1"/>
          <p:nvPr/>
        </p:nvSpPr>
        <p:spPr>
          <a:xfrm>
            <a:off x="4551578" y="22402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100" dirty="0"/>
          </a:p>
        </p:txBody>
      </p:sp>
      <p:sp>
        <p:nvSpPr>
          <p:cNvPr id="9" name="t182"/>
          <p:cNvSpPr txBox="1"/>
          <p:nvPr/>
        </p:nvSpPr>
        <p:spPr>
          <a:xfrm>
            <a:off x="4551578" y="2697480"/>
            <a:ext cx="30885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listing or a shop that is not right. It goes to the admin for the seller’s town, and you can follow it in My Reports.</a:t>
            </a:r>
            <a:endParaRPr lang="en-US" sz="1500" dirty="0"/>
          </a:p>
        </p:txBody>
      </p:sp>
      <p:sp>
        <p:nvSpPr>
          <p:cNvPr id="10" name="t183"/>
          <p:cNvSpPr txBox="1"/>
          <p:nvPr/>
        </p:nvSpPr>
        <p:spPr>
          <a:xfrm>
            <a:off x="8188757" y="22402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2100" dirty="0"/>
          </a:p>
        </p:txBody>
      </p:sp>
      <p:sp>
        <p:nvSpPr>
          <p:cNvPr id="11" name="t184"/>
          <p:cNvSpPr txBox="1"/>
          <p:nvPr/>
        </p:nvSpPr>
        <p:spPr>
          <a:xfrm>
            <a:off x="8188757" y="2697480"/>
            <a:ext cx="30885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about E-MOORM itself — a bug, an idea. It goes straight to the people who run it.</a:t>
            </a:r>
            <a:endParaRPr lang="en-US" sz="1500" dirty="0"/>
          </a:p>
        </p:txBody>
      </p:sp>
      <p:sp>
        <p:nvSpPr>
          <p:cNvPr id="12" name="s185"/>
          <p:cNvSpPr/>
          <p:nvPr/>
        </p:nvSpPr>
        <p:spPr>
          <a:xfrm>
            <a:off x="914400" y="4343400"/>
            <a:ext cx="10362895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186"/>
          <p:cNvSpPr txBox="1"/>
          <p:nvPr/>
        </p:nvSpPr>
        <p:spPr>
          <a:xfrm>
            <a:off x="914400" y="45720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municipal admin is the same person who approves the sellers in your town. Support is local by design.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ACCOUNT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profile, in two halves.</a:t>
            </a:r>
            <a:endParaRPr lang="en-US" sz="4000" dirty="0"/>
          </a:p>
        </p:txBody>
      </p:sp>
      <p:sp>
        <p:nvSpPr>
          <p:cNvPr id="4" name="s187"/>
          <p:cNvSpPr/>
          <p:nvPr/>
        </p:nvSpPr>
        <p:spPr>
          <a:xfrm>
            <a:off x="914400" y="2286000"/>
            <a:ext cx="146304" cy="146304"/>
          </a:xfrm>
          <a:prstGeom prst="ellipse">
            <a:avLst/>
          </a:prstGeom>
          <a:solidFill>
            <a:srgbClr val="29A366"/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5" name="t188"/>
          <p:cNvSpPr txBox="1"/>
          <p:nvPr/>
        </p:nvSpPr>
        <p:spPr>
          <a:xfrm>
            <a:off x="1207008" y="2176272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others can see</a:t>
            </a:r>
            <a:endParaRPr lang="en-US" sz="2100" dirty="0"/>
          </a:p>
        </p:txBody>
      </p:sp>
      <p:sp>
        <p:nvSpPr>
          <p:cNvPr id="6" name="s189"/>
          <p:cNvSpPr/>
          <p:nvPr/>
        </p:nvSpPr>
        <p:spPr>
          <a:xfrm>
            <a:off x="914400" y="2724912"/>
            <a:ext cx="472424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7" name="t190"/>
          <p:cNvSpPr txBox="1"/>
          <p:nvPr/>
        </p:nvSpPr>
        <p:spPr>
          <a:xfrm>
            <a:off x="914400" y="290779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and username</a:t>
            </a:r>
            <a:endParaRPr lang="en-US" sz="1550" dirty="0"/>
          </a:p>
        </p:txBody>
      </p:sp>
      <p:sp>
        <p:nvSpPr>
          <p:cNvPr id="8" name="t191"/>
          <p:cNvSpPr txBox="1"/>
          <p:nvPr/>
        </p:nvSpPr>
        <p:spPr>
          <a:xfrm>
            <a:off x="914400" y="33832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municipality</a:t>
            </a:r>
            <a:endParaRPr lang="en-US" sz="1550" dirty="0"/>
          </a:p>
        </p:txBody>
      </p:sp>
      <p:sp>
        <p:nvSpPr>
          <p:cNvPr id="9" name="t192"/>
          <p:cNvSpPr txBox="1"/>
          <p:nvPr/>
        </p:nvSpPr>
        <p:spPr>
          <a:xfrm>
            <a:off x="914400" y="3858768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verified badge, once you are</a:t>
            </a:r>
            <a:endParaRPr lang="en-US" sz="1550" dirty="0"/>
          </a:p>
        </p:txBody>
      </p:sp>
      <p:sp>
        <p:nvSpPr>
          <p:cNvPr id="10" name="t193"/>
          <p:cNvSpPr txBox="1"/>
          <p:nvPr/>
        </p:nvSpPr>
        <p:spPr>
          <a:xfrm>
            <a:off x="914400" y="4334256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since</a:t>
            </a:r>
            <a:endParaRPr lang="en-US" sz="1550" dirty="0"/>
          </a:p>
        </p:txBody>
      </p:sp>
      <p:sp>
        <p:nvSpPr>
          <p:cNvPr id="11" name="t194"/>
          <p:cNvSpPr txBox="1"/>
          <p:nvPr/>
        </p:nvSpPr>
        <p:spPr>
          <a:xfrm>
            <a:off x="914400" y="4809744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button to chat with you</a:t>
            </a:r>
            <a:endParaRPr lang="en-US" sz="1550" dirty="0"/>
          </a:p>
        </p:txBody>
      </p:sp>
      <p:sp>
        <p:nvSpPr>
          <p:cNvPr id="12" name="s195"/>
          <p:cNvSpPr/>
          <p:nvPr/>
        </p:nvSpPr>
        <p:spPr>
          <a:xfrm>
            <a:off x="6370168" y="2286000"/>
            <a:ext cx="146304" cy="146304"/>
          </a:xfrm>
          <a:prstGeom prst="ellipse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3" name="t196"/>
          <p:cNvSpPr txBox="1"/>
          <p:nvPr/>
        </p:nvSpPr>
        <p:spPr>
          <a:xfrm>
            <a:off x="6662776" y="2176272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stays private</a:t>
            </a:r>
            <a:endParaRPr lang="en-US" sz="2100" dirty="0"/>
          </a:p>
        </p:txBody>
      </p:sp>
      <p:sp>
        <p:nvSpPr>
          <p:cNvPr id="14" name="s197"/>
          <p:cNvSpPr/>
          <p:nvPr/>
        </p:nvSpPr>
        <p:spPr>
          <a:xfrm>
            <a:off x="6370168" y="2724912"/>
            <a:ext cx="472424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5" name="t198"/>
          <p:cNvSpPr txBox="1"/>
          <p:nvPr/>
        </p:nvSpPr>
        <p:spPr>
          <a:xfrm>
            <a:off x="6370168" y="290779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orders and payments</a:t>
            </a:r>
            <a:endParaRPr lang="en-US" sz="1550" dirty="0"/>
          </a:p>
        </p:txBody>
      </p:sp>
      <p:sp>
        <p:nvSpPr>
          <p:cNvPr id="16" name="t199"/>
          <p:cNvSpPr txBox="1"/>
          <p:nvPr/>
        </p:nvSpPr>
        <p:spPr>
          <a:xfrm>
            <a:off x="6370168" y="33832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addresses</a:t>
            </a:r>
            <a:endParaRPr lang="en-US" sz="1550" dirty="0"/>
          </a:p>
        </p:txBody>
      </p:sp>
      <p:sp>
        <p:nvSpPr>
          <p:cNvPr id="17" name="t200"/>
          <p:cNvSpPr txBox="1"/>
          <p:nvPr/>
        </p:nvSpPr>
        <p:spPr>
          <a:xfrm>
            <a:off x="6370168" y="3858768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 and verification</a:t>
            </a:r>
            <a:endParaRPr lang="en-US" sz="1550" dirty="0"/>
          </a:p>
        </p:txBody>
      </p:sp>
      <p:sp>
        <p:nvSpPr>
          <p:cNvPr id="18" name="t201"/>
          <p:cNvSpPr txBox="1"/>
          <p:nvPr/>
        </p:nvSpPr>
        <p:spPr>
          <a:xfrm>
            <a:off x="6370168" y="4334256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wishlist and the shops you follow</a:t>
            </a:r>
            <a:endParaRPr lang="en-US" sz="1550" dirty="0"/>
          </a:p>
        </p:txBody>
      </p:sp>
      <p:sp>
        <p:nvSpPr>
          <p:cNvPr id="19" name="t202"/>
          <p:cNvSpPr txBox="1"/>
          <p:nvPr/>
        </p:nvSpPr>
        <p:spPr>
          <a:xfrm>
            <a:off x="6370168" y="4809744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messages and notifications</a:t>
            </a:r>
            <a:endParaRPr lang="en-US" sz="1550" dirty="0"/>
          </a:p>
        </p:txBody>
      </p:sp>
      <p:sp>
        <p:nvSpPr>
          <p:cNvPr id="20" name="t203"/>
          <p:cNvSpPr txBox="1"/>
          <p:nvPr/>
        </p:nvSpPr>
        <p:spPr>
          <a:xfrm>
            <a:off x="914400" y="5577840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seller only ever sees your exact address on an order you placed with them.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KNOW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habits.</a:t>
            </a:r>
            <a:endParaRPr lang="en-US" sz="4000" dirty="0"/>
          </a:p>
        </p:txBody>
      </p:sp>
      <p:sp>
        <p:nvSpPr>
          <p:cNvPr id="4" name="t204"/>
          <p:cNvSpPr txBox="1"/>
          <p:nvPr/>
        </p:nvSpPr>
        <p:spPr>
          <a:xfrm>
            <a:off x="914400" y="2331720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way checkout shows</a:t>
            </a:r>
            <a:endParaRPr lang="en-US" sz="1900" dirty="0"/>
          </a:p>
        </p:txBody>
      </p:sp>
      <p:sp>
        <p:nvSpPr>
          <p:cNvPr id="5" name="t205"/>
          <p:cNvSpPr txBox="1"/>
          <p:nvPr/>
        </p:nvSpPr>
        <p:spPr>
          <a:xfrm>
            <a:off x="914400" y="271576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delivery or the QR code on the order. Nothing else.</a:t>
            </a:r>
            <a:endParaRPr lang="en-US" sz="1450" dirty="0"/>
          </a:p>
        </p:txBody>
      </p:sp>
      <p:sp>
        <p:nvSpPr>
          <p:cNvPr id="6" name="s206"/>
          <p:cNvSpPr/>
          <p:nvPr/>
        </p:nvSpPr>
        <p:spPr>
          <a:xfrm>
            <a:off x="914400" y="3429000"/>
            <a:ext cx="481568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7" name="t207"/>
          <p:cNvSpPr txBox="1"/>
          <p:nvPr/>
        </p:nvSpPr>
        <p:spPr>
          <a:xfrm>
            <a:off x="6461608" y="2331720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in the app</a:t>
            </a:r>
            <a:endParaRPr lang="en-US" sz="1900" dirty="0"/>
          </a:p>
        </p:txBody>
      </p:sp>
      <p:sp>
        <p:nvSpPr>
          <p:cNvPr id="8" name="t208"/>
          <p:cNvSpPr txBox="1"/>
          <p:nvPr/>
        </p:nvSpPr>
        <p:spPr>
          <a:xfrm>
            <a:off x="6461608" y="271576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and orders here leave a record your municipal admin can act on.</a:t>
            </a:r>
            <a:endParaRPr lang="en-US" sz="1450" dirty="0"/>
          </a:p>
        </p:txBody>
      </p:sp>
      <p:sp>
        <p:nvSpPr>
          <p:cNvPr id="9" name="s209"/>
          <p:cNvSpPr/>
          <p:nvPr/>
        </p:nvSpPr>
        <p:spPr>
          <a:xfrm>
            <a:off x="6461608" y="3429000"/>
            <a:ext cx="4815688" cy="10973"/>
          </a:xfrm>
          <a:prstGeom prst="rect">
            <a:avLst/>
          </a:prstGeom>
          <a:solidFill>
            <a:srgbClr val="D2D2D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210"/>
          <p:cNvSpPr txBox="1"/>
          <p:nvPr/>
        </p:nvSpPr>
        <p:spPr>
          <a:xfrm>
            <a:off x="914400" y="3749040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real screenshot</a:t>
            </a:r>
            <a:endParaRPr lang="en-US" sz="1900" dirty="0"/>
          </a:p>
        </p:txBody>
      </p:sp>
      <p:sp>
        <p:nvSpPr>
          <p:cNvPr id="11" name="t211"/>
          <p:cNvSpPr txBox="1"/>
          <p:nvPr/>
        </p:nvSpPr>
        <p:spPr>
          <a:xfrm>
            <a:off x="914400" y="413308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for this transfer, this amount. It is what the seller checks.</a:t>
            </a:r>
            <a:endParaRPr lang="en-US" sz="1450" dirty="0"/>
          </a:p>
        </p:txBody>
      </p:sp>
      <p:sp>
        <p:nvSpPr>
          <p:cNvPr id="12" name="t212"/>
          <p:cNvSpPr txBox="1"/>
          <p:nvPr/>
        </p:nvSpPr>
        <p:spPr>
          <a:xfrm>
            <a:off x="6461608" y="3749040"/>
            <a:ext cx="481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what looks wrong</a:t>
            </a:r>
            <a:endParaRPr lang="en-US" sz="1900" dirty="0"/>
          </a:p>
        </p:txBody>
      </p:sp>
      <p:sp>
        <p:nvSpPr>
          <p:cNvPr id="13" name="t213"/>
          <p:cNvSpPr txBox="1"/>
          <p:nvPr/>
        </p:nvSpPr>
        <p:spPr>
          <a:xfrm>
            <a:off x="6461608" y="4133088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fake listing, a rude seller. It takes a moment and it is looked at.</a:t>
            </a:r>
            <a:endParaRPr lang="en-US" sz="1450" dirty="0"/>
          </a:p>
        </p:txBody>
      </p:sp>
      <p:sp>
        <p:nvSpPr>
          <p:cNvPr id="14" name="t214"/>
          <p:cNvSpPr txBox="1"/>
          <p:nvPr/>
        </p:nvSpPr>
        <p:spPr>
          <a:xfrm>
            <a:off x="914400" y="55321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all it takes to stay safe here.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914400" y="640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914400" y="914400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twelve.</a:t>
            </a:r>
            <a:endParaRPr lang="en-US" sz="4000" dirty="0"/>
          </a:p>
        </p:txBody>
      </p:sp>
      <p:sp>
        <p:nvSpPr>
          <p:cNvPr id="4" name="t215"/>
          <p:cNvSpPr txBox="1"/>
          <p:nvPr/>
        </p:nvSpPr>
        <p:spPr>
          <a:xfrm>
            <a:off x="914400" y="2258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216"/>
          <p:cNvSpPr txBox="1"/>
          <p:nvPr/>
        </p:nvSpPr>
        <p:spPr>
          <a:xfrm>
            <a:off x="1600200" y="22402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around first</a:t>
            </a:r>
            <a:endParaRPr lang="en-US" sz="1700" dirty="0"/>
          </a:p>
        </p:txBody>
      </p:sp>
      <p:sp>
        <p:nvSpPr>
          <p:cNvPr id="6" name="t217"/>
          <p:cNvSpPr txBox="1"/>
          <p:nvPr/>
        </p:nvSpPr>
        <p:spPr>
          <a:xfrm>
            <a:off x="914400" y="3172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7" name="t218"/>
          <p:cNvSpPr txBox="1"/>
          <p:nvPr/>
        </p:nvSpPr>
        <p:spPr>
          <a:xfrm>
            <a:off x="1600200" y="31546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</a:t>
            </a:r>
            <a:endParaRPr lang="en-US" sz="1700" dirty="0"/>
          </a:p>
        </p:txBody>
      </p:sp>
      <p:sp>
        <p:nvSpPr>
          <p:cNvPr id="8" name="t219"/>
          <p:cNvSpPr txBox="1"/>
          <p:nvPr/>
        </p:nvSpPr>
        <p:spPr>
          <a:xfrm>
            <a:off x="914400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t220"/>
          <p:cNvSpPr txBox="1"/>
          <p:nvPr/>
        </p:nvSpPr>
        <p:spPr>
          <a:xfrm>
            <a:off x="1600200" y="40690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once</a:t>
            </a:r>
            <a:endParaRPr lang="en-US" sz="1700" dirty="0"/>
          </a:p>
        </p:txBody>
      </p:sp>
      <p:sp>
        <p:nvSpPr>
          <p:cNvPr id="10" name="t221"/>
          <p:cNvSpPr txBox="1"/>
          <p:nvPr/>
        </p:nvSpPr>
        <p:spPr>
          <a:xfrm>
            <a:off x="914400" y="5001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11" name="t222"/>
          <p:cNvSpPr txBox="1"/>
          <p:nvPr/>
        </p:nvSpPr>
        <p:spPr>
          <a:xfrm>
            <a:off x="1600200" y="49834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what you want</a:t>
            </a:r>
            <a:endParaRPr lang="en-US" sz="1700" dirty="0"/>
          </a:p>
        </p:txBody>
      </p:sp>
      <p:sp>
        <p:nvSpPr>
          <p:cNvPr id="12" name="t223"/>
          <p:cNvSpPr txBox="1"/>
          <p:nvPr/>
        </p:nvSpPr>
        <p:spPr>
          <a:xfrm>
            <a:off x="4521098" y="2258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sp>
        <p:nvSpPr>
          <p:cNvPr id="13" name="t224"/>
          <p:cNvSpPr txBox="1"/>
          <p:nvPr/>
        </p:nvSpPr>
        <p:spPr>
          <a:xfrm>
            <a:off x="5206898" y="22402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listing</a:t>
            </a:r>
            <a:endParaRPr lang="en-US" sz="1700" dirty="0"/>
          </a:p>
        </p:txBody>
      </p:sp>
      <p:sp>
        <p:nvSpPr>
          <p:cNvPr id="14" name="t225"/>
          <p:cNvSpPr txBox="1"/>
          <p:nvPr/>
        </p:nvSpPr>
        <p:spPr>
          <a:xfrm>
            <a:off x="4521098" y="3172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" dirty="0"/>
          </a:p>
        </p:txBody>
      </p:sp>
      <p:sp>
        <p:nvSpPr>
          <p:cNvPr id="15" name="t226"/>
          <p:cNvSpPr txBox="1"/>
          <p:nvPr/>
        </p:nvSpPr>
        <p:spPr>
          <a:xfrm>
            <a:off x="5206898" y="31546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then checkout</a:t>
            </a:r>
            <a:endParaRPr lang="en-US" sz="1700" dirty="0"/>
          </a:p>
        </p:txBody>
      </p:sp>
      <p:sp>
        <p:nvSpPr>
          <p:cNvPr id="16" name="t227"/>
          <p:cNvSpPr txBox="1"/>
          <p:nvPr/>
        </p:nvSpPr>
        <p:spPr>
          <a:xfrm>
            <a:off x="4521098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900" dirty="0"/>
          </a:p>
        </p:txBody>
      </p:sp>
      <p:sp>
        <p:nvSpPr>
          <p:cNvPr id="17" name="t228"/>
          <p:cNvSpPr txBox="1"/>
          <p:nvPr/>
        </p:nvSpPr>
        <p:spPr>
          <a:xfrm>
            <a:off x="5206898" y="40690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way you like</a:t>
            </a:r>
            <a:endParaRPr lang="en-US" sz="1700" dirty="0"/>
          </a:p>
        </p:txBody>
      </p:sp>
      <p:sp>
        <p:nvSpPr>
          <p:cNvPr id="18" name="t229"/>
          <p:cNvSpPr txBox="1"/>
          <p:nvPr/>
        </p:nvSpPr>
        <p:spPr>
          <a:xfrm>
            <a:off x="4521098" y="5001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00" dirty="0"/>
          </a:p>
        </p:txBody>
      </p:sp>
      <p:sp>
        <p:nvSpPr>
          <p:cNvPr id="19" name="t230"/>
          <p:cNvSpPr txBox="1"/>
          <p:nvPr/>
        </p:nvSpPr>
        <p:spPr>
          <a:xfrm>
            <a:off x="5206898" y="49834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it</a:t>
            </a:r>
            <a:endParaRPr lang="en-US" sz="1700" dirty="0"/>
          </a:p>
        </p:txBody>
      </p:sp>
      <p:sp>
        <p:nvSpPr>
          <p:cNvPr id="20" name="t231"/>
          <p:cNvSpPr txBox="1"/>
          <p:nvPr/>
        </p:nvSpPr>
        <p:spPr>
          <a:xfrm>
            <a:off x="8127797" y="2258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900" dirty="0"/>
          </a:p>
        </p:txBody>
      </p:sp>
      <p:sp>
        <p:nvSpPr>
          <p:cNvPr id="21" name="t232"/>
          <p:cNvSpPr txBox="1"/>
          <p:nvPr/>
        </p:nvSpPr>
        <p:spPr>
          <a:xfrm>
            <a:off x="8813597" y="22402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proof is rejected</a:t>
            </a:r>
            <a:endParaRPr lang="en-US" sz="1700" dirty="0"/>
          </a:p>
        </p:txBody>
      </p:sp>
      <p:sp>
        <p:nvSpPr>
          <p:cNvPr id="22" name="t233"/>
          <p:cNvSpPr txBox="1"/>
          <p:nvPr/>
        </p:nvSpPr>
        <p:spPr>
          <a:xfrm>
            <a:off x="8127797" y="3172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00" dirty="0"/>
          </a:p>
        </p:txBody>
      </p:sp>
      <p:sp>
        <p:nvSpPr>
          <p:cNvPr id="23" name="t234"/>
          <p:cNvSpPr txBox="1"/>
          <p:nvPr/>
        </p:nvSpPr>
        <p:spPr>
          <a:xfrm>
            <a:off x="8813597" y="31546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Received? Say so</a:t>
            </a:r>
            <a:endParaRPr lang="en-US" sz="1700" dirty="0"/>
          </a:p>
        </p:txBody>
      </p:sp>
      <p:sp>
        <p:nvSpPr>
          <p:cNvPr id="24" name="t235"/>
          <p:cNvSpPr txBox="1"/>
          <p:nvPr/>
        </p:nvSpPr>
        <p:spPr>
          <a:xfrm>
            <a:off x="8127797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25" name="t236"/>
          <p:cNvSpPr txBox="1"/>
          <p:nvPr/>
        </p:nvSpPr>
        <p:spPr>
          <a:xfrm>
            <a:off x="8813597" y="40690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and refunds</a:t>
            </a:r>
            <a:endParaRPr lang="en-US" sz="1700" dirty="0"/>
          </a:p>
        </p:txBody>
      </p:sp>
      <p:sp>
        <p:nvSpPr>
          <p:cNvPr id="26" name="t237"/>
          <p:cNvSpPr txBox="1"/>
          <p:nvPr/>
        </p:nvSpPr>
        <p:spPr>
          <a:xfrm>
            <a:off x="8127797" y="5001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27" name="t238"/>
          <p:cNvSpPr txBox="1"/>
          <p:nvPr/>
        </p:nvSpPr>
        <p:spPr>
          <a:xfrm>
            <a:off x="8813597" y="4983480"/>
            <a:ext cx="2463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a person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"/>
                            </p:stCondLst>
                            <p:childTnLst>
                              <p:par>
                                <p:cTn id="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60"/>
                            </p:stCondLst>
                            <p:childTnLst>
                              <p:par>
                                <p:cTn id="3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0"/>
                            </p:stCondLst>
                            <p:childTnLst>
                              <p:par>
                                <p:cTn id="4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80"/>
                            </p:stCondLst>
                            <p:childTnLst>
                              <p:par>
                                <p:cTn id="4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90"/>
                            </p:stCondLst>
                            <p:childTnLst>
                              <p:par>
                                <p:cTn id="5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10"/>
                            </p:stCondLst>
                            <p:childTnLst>
                              <p:par>
                                <p:cTn id="6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0"/>
                            </p:stCondLst>
                            <p:childTnLst>
                              <p:par>
                                <p:cTn id="6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30"/>
                            </p:stCondLst>
                            <p:childTnLst>
                              <p:par>
                                <p:cTn id="7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low"/>
          <p:cNvSpPr/>
          <p:nvPr/>
        </p:nvSpPr>
        <p:spPr>
          <a:xfrm>
            <a:off x="7863840" y="2194560"/>
            <a:ext cx="6766560" cy="6766560"/>
          </a:xfrm>
          <a:prstGeom prst="ellipse">
            <a:avLst/>
          </a:prstGeom>
          <a:solidFill>
            <a:srgbClr val="29A366">
              <a:alpha val="16000"/>
            </a:srgbClr>
          </a:solidFill>
          <a:ln w="12700">
            <a:solidFill>
              <a:srgbClr val="29A366"/>
            </a:solidFill>
            <a:prstDash val="solid"/>
          </a:ln>
        </p:spPr>
      </p:sp>
      <p:sp>
        <p:nvSpPr>
          <p:cNvPr id="3" name="!!title"/>
          <p:cNvSpPr txBox="1"/>
          <p:nvPr/>
        </p:nvSpPr>
        <p:spPr>
          <a:xfrm>
            <a:off x="914400" y="21488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shopping.</a:t>
            </a:r>
            <a:endParaRPr lang="en-US" sz="6200" dirty="0"/>
          </a:p>
        </p:txBody>
      </p:sp>
      <p:sp>
        <p:nvSpPr>
          <p:cNvPr id="4" name="t239"/>
          <p:cNvSpPr txBox="1"/>
          <p:nvPr/>
        </p:nvSpPr>
        <p:spPr>
          <a:xfrm>
            <a:off x="914400" y="3474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 your town, sold by someone your municipal admin has met.</a:t>
            </a:r>
            <a:endParaRPr lang="en-US" sz="2000" dirty="0"/>
          </a:p>
        </p:txBody>
      </p:sp>
      <p:sp>
        <p:nvSpPr>
          <p:cNvPr id="5" name="t240"/>
          <p:cNvSpPr txBox="1"/>
          <p:nvPr/>
        </p:nvSpPr>
        <p:spPr>
          <a:xfrm>
            <a:off x="914400" y="4617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A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emoorm.shop</a:t>
            </a:r>
            <a:endParaRPr lang="en-US" sz="3000" dirty="0"/>
          </a:p>
        </p:txBody>
      </p:sp>
      <p:sp>
        <p:nvSpPr>
          <p:cNvPr id="6" name="t241"/>
          <p:cNvSpPr txBox="1"/>
          <p:nvPr/>
        </p:nvSpPr>
        <p:spPr>
          <a:xfrm>
            <a:off x="914400" y="57607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Help &amp; Support opens a case with the admin for your own municipality.</a:t>
            </a:r>
            <a:endParaRPr lang="en-US" sz="135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"/>
                            </p:stCondLst>
                            <p:childTnLst>
                              <p:par>
                                <p:cTn id="15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"/>
                            </p:stCondLst>
                            <p:childTnLst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 on E-MOORM — Buyer Guide</dc:title>
  <dc:subject>PptxGenJS Presentation</dc:subject>
  <dc:creator>E-MOORM</dc:creator>
  <cp:lastModifiedBy>E-MOORM</cp:lastModifiedBy>
  <cp:revision>1</cp:revision>
  <dcterms:created xsi:type="dcterms:W3CDTF">2026-09-25T04:27:43Z</dcterms:created>
  <dcterms:modified xsi:type="dcterms:W3CDTF">2026-09-25T04:27:43Z</dcterms:modified>
</cp:coreProperties>
</file>